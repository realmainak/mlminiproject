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48"/>
  </p:notesMasterIdLst>
  <p:handoutMasterIdLst>
    <p:handoutMasterId r:id="rId49"/>
  </p:handoutMasterIdLst>
  <p:sldIdLst>
    <p:sldId id="317" r:id="rId5"/>
    <p:sldId id="308" r:id="rId6"/>
    <p:sldId id="327" r:id="rId7"/>
    <p:sldId id="316" r:id="rId8"/>
    <p:sldId id="323" r:id="rId9"/>
    <p:sldId id="363" r:id="rId10"/>
    <p:sldId id="263" r:id="rId11"/>
    <p:sldId id="278" r:id="rId12"/>
    <p:sldId id="309" r:id="rId13"/>
    <p:sldId id="346" r:id="rId14"/>
    <p:sldId id="324" r:id="rId15"/>
    <p:sldId id="310" r:id="rId16"/>
    <p:sldId id="311" r:id="rId17"/>
    <p:sldId id="348" r:id="rId18"/>
    <p:sldId id="326" r:id="rId19"/>
    <p:sldId id="312" r:id="rId20"/>
    <p:sldId id="349" r:id="rId21"/>
    <p:sldId id="329" r:id="rId22"/>
    <p:sldId id="330" r:id="rId23"/>
    <p:sldId id="314" r:id="rId24"/>
    <p:sldId id="304" r:id="rId25"/>
    <p:sldId id="333" r:id="rId26"/>
    <p:sldId id="318" r:id="rId27"/>
    <p:sldId id="319" r:id="rId28"/>
    <p:sldId id="344" r:id="rId29"/>
    <p:sldId id="337" r:id="rId30"/>
    <p:sldId id="365" r:id="rId31"/>
    <p:sldId id="338" r:id="rId32"/>
    <p:sldId id="339" r:id="rId33"/>
    <p:sldId id="331" r:id="rId34"/>
    <p:sldId id="340" r:id="rId35"/>
    <p:sldId id="367" r:id="rId36"/>
    <p:sldId id="342" r:id="rId37"/>
    <p:sldId id="345" r:id="rId38"/>
    <p:sldId id="341" r:id="rId39"/>
    <p:sldId id="343" r:id="rId40"/>
    <p:sldId id="359" r:id="rId41"/>
    <p:sldId id="357" r:id="rId42"/>
    <p:sldId id="360" r:id="rId43"/>
    <p:sldId id="368" r:id="rId44"/>
    <p:sldId id="370" r:id="rId45"/>
    <p:sldId id="369" r:id="rId46"/>
    <p:sldId id="364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637700"/>
    <a:srgbClr val="636A58"/>
    <a:srgbClr val="505A47"/>
    <a:srgbClr val="D1D8B7"/>
    <a:srgbClr val="A09D79"/>
    <a:srgbClr val="AD5C4D"/>
    <a:srgbClr val="543E35"/>
    <a:srgbClr val="FFF4ED"/>
    <a:srgbClr val="5E6A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66" autoAdjust="0"/>
    <p:restoredTop sz="95405" autoAdjust="0"/>
  </p:normalViewPr>
  <p:slideViewPr>
    <p:cSldViewPr snapToGrid="0">
      <p:cViewPr varScale="1">
        <p:scale>
          <a:sx n="73" d="100"/>
          <a:sy n="73" d="100"/>
        </p:scale>
        <p:origin x="252" y="36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11/12/2025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37216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081334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40918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62817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108936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724997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099865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555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/>
          <a:p>
            <a:r>
              <a:rPr lang="en-US" dirty="0"/>
              <a:t>Plant Leaf Disease Detection</a:t>
            </a:r>
            <a:br>
              <a:rPr lang="en-US" dirty="0"/>
            </a:br>
            <a:br>
              <a:rPr lang="en-US" dirty="0"/>
            </a:br>
            <a:r>
              <a:rPr lang="en-US" sz="2800" dirty="0"/>
              <a:t>Group Number: G13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Members:</a:t>
            </a:r>
            <a:br>
              <a:rPr lang="en-US" sz="2800" dirty="0"/>
            </a:br>
            <a:r>
              <a:rPr lang="en-US" sz="2800" dirty="0"/>
              <a:t>Mainak Bose (Roll No. 23EC8082)</a:t>
            </a:r>
            <a:br>
              <a:rPr lang="en-IN" sz="2800" dirty="0"/>
            </a:br>
            <a:r>
              <a:rPr lang="en-US" sz="2800" dirty="0"/>
              <a:t>Ayush Rai (Roll No. 23EC8081)</a:t>
            </a:r>
            <a:br>
              <a:rPr lang="en-IN" sz="2800" dirty="0"/>
            </a:br>
            <a:r>
              <a:rPr lang="en-US" sz="2800" dirty="0" err="1"/>
              <a:t>Ramala</a:t>
            </a:r>
            <a:r>
              <a:rPr lang="en-US" sz="2800" dirty="0"/>
              <a:t> Venkata Vamsi (Roll No. 23EC8080)</a:t>
            </a:r>
            <a:br>
              <a:rPr lang="en-I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BE21AF9-B644-E3A8-21A2-84EDE490C650}"/>
              </a:ext>
            </a:extLst>
          </p:cNvPr>
          <p:cNvSpPr txBox="1"/>
          <p:nvPr/>
        </p:nvSpPr>
        <p:spPr>
          <a:xfrm>
            <a:off x="1480455" y="2276431"/>
            <a:ext cx="461554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0000"/>
                </a:solidFill>
              </a:rPr>
              <a:t>Found 16516 images belonging to 15 classes.</a:t>
            </a:r>
          </a:p>
          <a:p>
            <a:r>
              <a:rPr lang="en-IN" dirty="0">
                <a:solidFill>
                  <a:srgbClr val="000000"/>
                </a:solidFill>
              </a:rPr>
              <a:t>Found 4122 images belonging to 15 classes.</a:t>
            </a:r>
          </a:p>
          <a:p>
            <a:r>
              <a:rPr lang="en-IN" dirty="0">
                <a:solidFill>
                  <a:srgbClr val="000000"/>
                </a:solidFill>
              </a:rPr>
              <a:t>📚 Number of classes: 15</a:t>
            </a:r>
          </a:p>
          <a:p>
            <a:endParaRPr lang="en-IN" dirty="0">
              <a:solidFill>
                <a:srgbClr val="000000"/>
              </a:solidFill>
            </a:endParaRPr>
          </a:p>
          <a:p>
            <a:r>
              <a:rPr lang="en-IN" dirty="0">
                <a:solidFill>
                  <a:srgbClr val="000000"/>
                </a:solidFill>
              </a:rPr>
              <a:t>📂 Classes in the Dataset:</a:t>
            </a:r>
          </a:p>
          <a:p>
            <a:r>
              <a:rPr lang="en-IN" dirty="0">
                <a:solidFill>
                  <a:srgbClr val="000000"/>
                </a:solidFill>
              </a:rPr>
              <a:t>01. Pepper__bell___</a:t>
            </a:r>
            <a:r>
              <a:rPr lang="en-IN" dirty="0" err="1">
                <a:solidFill>
                  <a:srgbClr val="000000"/>
                </a:solidFill>
              </a:rPr>
              <a:t>Bacterial_spot</a:t>
            </a:r>
            <a:r>
              <a:rPr lang="en-IN" dirty="0">
                <a:solidFill>
                  <a:srgbClr val="000000"/>
                </a:solidFill>
              </a:rPr>
              <a:t> (index: 0)</a:t>
            </a:r>
          </a:p>
          <a:p>
            <a:r>
              <a:rPr lang="en-IN" dirty="0">
                <a:solidFill>
                  <a:srgbClr val="000000"/>
                </a:solidFill>
              </a:rPr>
              <a:t>02. </a:t>
            </a:r>
            <a:r>
              <a:rPr lang="en-IN" dirty="0" err="1">
                <a:solidFill>
                  <a:srgbClr val="000000"/>
                </a:solidFill>
              </a:rPr>
              <a:t>Pepper__bell___healthy</a:t>
            </a:r>
            <a:r>
              <a:rPr lang="en-IN" dirty="0">
                <a:solidFill>
                  <a:srgbClr val="000000"/>
                </a:solidFill>
              </a:rPr>
              <a:t> (index: 1)</a:t>
            </a:r>
          </a:p>
          <a:p>
            <a:r>
              <a:rPr lang="en-IN" dirty="0">
                <a:solidFill>
                  <a:srgbClr val="000000"/>
                </a:solidFill>
              </a:rPr>
              <a:t>03. Potato___</a:t>
            </a:r>
            <a:r>
              <a:rPr lang="en-IN" dirty="0" err="1">
                <a:solidFill>
                  <a:srgbClr val="000000"/>
                </a:solidFill>
              </a:rPr>
              <a:t>Early_blight</a:t>
            </a:r>
            <a:r>
              <a:rPr lang="en-IN" dirty="0">
                <a:solidFill>
                  <a:srgbClr val="000000"/>
                </a:solidFill>
              </a:rPr>
              <a:t> (index: 2)</a:t>
            </a:r>
          </a:p>
          <a:p>
            <a:r>
              <a:rPr lang="en-IN" dirty="0">
                <a:solidFill>
                  <a:srgbClr val="000000"/>
                </a:solidFill>
              </a:rPr>
              <a:t>04. Potato___</a:t>
            </a:r>
            <a:r>
              <a:rPr lang="en-IN" dirty="0" err="1">
                <a:solidFill>
                  <a:srgbClr val="000000"/>
                </a:solidFill>
              </a:rPr>
              <a:t>Late_blight</a:t>
            </a:r>
            <a:r>
              <a:rPr lang="en-IN" dirty="0">
                <a:solidFill>
                  <a:srgbClr val="000000"/>
                </a:solidFill>
              </a:rPr>
              <a:t> (index: 3)</a:t>
            </a:r>
          </a:p>
          <a:p>
            <a:r>
              <a:rPr lang="en-IN" dirty="0">
                <a:solidFill>
                  <a:srgbClr val="000000"/>
                </a:solidFill>
              </a:rPr>
              <a:t>05. </a:t>
            </a:r>
            <a:r>
              <a:rPr lang="en-IN" dirty="0" err="1">
                <a:solidFill>
                  <a:srgbClr val="000000"/>
                </a:solidFill>
              </a:rPr>
              <a:t>Potato___healthy</a:t>
            </a:r>
            <a:r>
              <a:rPr lang="en-IN" dirty="0">
                <a:solidFill>
                  <a:srgbClr val="000000"/>
                </a:solidFill>
              </a:rPr>
              <a:t> (index: 4)</a:t>
            </a:r>
          </a:p>
          <a:p>
            <a:r>
              <a:rPr lang="en-IN" dirty="0">
                <a:solidFill>
                  <a:srgbClr val="000000"/>
                </a:solidFill>
              </a:rPr>
              <a:t>06. </a:t>
            </a:r>
            <a:r>
              <a:rPr lang="en-IN" dirty="0" err="1">
                <a:solidFill>
                  <a:srgbClr val="000000"/>
                </a:solidFill>
              </a:rPr>
              <a:t>Tomato_Bacterial_spot</a:t>
            </a:r>
            <a:r>
              <a:rPr lang="en-IN" dirty="0">
                <a:solidFill>
                  <a:srgbClr val="000000"/>
                </a:solidFill>
              </a:rPr>
              <a:t> (index: 5)</a:t>
            </a:r>
          </a:p>
          <a:p>
            <a:r>
              <a:rPr lang="en-IN" dirty="0">
                <a:solidFill>
                  <a:srgbClr val="000000"/>
                </a:solidFill>
              </a:rPr>
              <a:t>07. </a:t>
            </a:r>
            <a:r>
              <a:rPr lang="en-IN" dirty="0" err="1">
                <a:solidFill>
                  <a:srgbClr val="000000"/>
                </a:solidFill>
              </a:rPr>
              <a:t>Tomato_Early_blight</a:t>
            </a:r>
            <a:r>
              <a:rPr lang="en-IN" dirty="0">
                <a:solidFill>
                  <a:srgbClr val="000000"/>
                </a:solidFill>
              </a:rPr>
              <a:t> (index: 6)</a:t>
            </a:r>
          </a:p>
          <a:p>
            <a:r>
              <a:rPr lang="en-IN" dirty="0">
                <a:solidFill>
                  <a:srgbClr val="000000"/>
                </a:solidFill>
              </a:rPr>
              <a:t>08. </a:t>
            </a:r>
            <a:r>
              <a:rPr lang="en-IN" dirty="0" err="1">
                <a:solidFill>
                  <a:srgbClr val="000000"/>
                </a:solidFill>
              </a:rPr>
              <a:t>Tomato_Late_blight</a:t>
            </a:r>
            <a:r>
              <a:rPr lang="en-IN" dirty="0">
                <a:solidFill>
                  <a:srgbClr val="000000"/>
                </a:solidFill>
              </a:rPr>
              <a:t> (index: 7)</a:t>
            </a:r>
          </a:p>
          <a:p>
            <a:r>
              <a:rPr lang="en-IN" dirty="0">
                <a:solidFill>
                  <a:srgbClr val="000000"/>
                </a:solidFill>
              </a:rPr>
              <a:t>09. </a:t>
            </a:r>
            <a:r>
              <a:rPr lang="en-IN" dirty="0" err="1">
                <a:solidFill>
                  <a:srgbClr val="000000"/>
                </a:solidFill>
              </a:rPr>
              <a:t>Tomato_Leaf_Mold</a:t>
            </a:r>
            <a:r>
              <a:rPr lang="en-IN" dirty="0">
                <a:solidFill>
                  <a:srgbClr val="000000"/>
                </a:solidFill>
              </a:rPr>
              <a:t> (index: 8)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4542A8-27B2-10C4-05C7-1595AE6AE165}"/>
              </a:ext>
            </a:extLst>
          </p:cNvPr>
          <p:cNvSpPr txBox="1"/>
          <p:nvPr/>
        </p:nvSpPr>
        <p:spPr>
          <a:xfrm>
            <a:off x="2791411" y="611251"/>
            <a:ext cx="62235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latin typeface="+mj-lt"/>
                <a:ea typeface="+mj-ea"/>
                <a:cs typeface="+mj-cs"/>
              </a:rPr>
              <a:t>Dataset</a:t>
            </a:r>
            <a:r>
              <a:rPr lang="en-IN" sz="4000" dirty="0"/>
              <a:t> </a:t>
            </a:r>
            <a:r>
              <a:rPr lang="en-IN" sz="4800" dirty="0">
                <a:latin typeface="+mj-lt"/>
                <a:ea typeface="+mj-ea"/>
                <a:cs typeface="+mj-cs"/>
              </a:rPr>
              <a:t>description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1ADF39-47E2-01AB-BFB5-BADBEC90CA5B}"/>
              </a:ext>
            </a:extLst>
          </p:cNvPr>
          <p:cNvSpPr txBox="1"/>
          <p:nvPr/>
        </p:nvSpPr>
        <p:spPr>
          <a:xfrm>
            <a:off x="6201749" y="2414930"/>
            <a:ext cx="439471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0000"/>
                </a:solidFill>
              </a:rPr>
              <a:t>10. </a:t>
            </a:r>
            <a:r>
              <a:rPr lang="en-IN" dirty="0" err="1">
                <a:solidFill>
                  <a:srgbClr val="000000"/>
                </a:solidFill>
              </a:rPr>
              <a:t>Tomato_Septoria_leaf_spot</a:t>
            </a:r>
            <a:r>
              <a:rPr lang="en-IN" dirty="0">
                <a:solidFill>
                  <a:srgbClr val="000000"/>
                </a:solidFill>
              </a:rPr>
              <a:t> (index: 9)</a:t>
            </a:r>
          </a:p>
          <a:p>
            <a:r>
              <a:rPr lang="en-IN" dirty="0">
                <a:solidFill>
                  <a:srgbClr val="000000"/>
                </a:solidFill>
              </a:rPr>
              <a:t>11. </a:t>
            </a:r>
            <a:r>
              <a:rPr lang="en-IN" dirty="0" err="1">
                <a:solidFill>
                  <a:srgbClr val="000000"/>
                </a:solidFill>
              </a:rPr>
              <a:t>Tomato_Spider_mites_Two_spotted_spider_mite</a:t>
            </a:r>
            <a:r>
              <a:rPr lang="en-IN" dirty="0">
                <a:solidFill>
                  <a:srgbClr val="000000"/>
                </a:solidFill>
              </a:rPr>
              <a:t> (index: 10)</a:t>
            </a:r>
          </a:p>
          <a:p>
            <a:r>
              <a:rPr lang="en-IN" dirty="0">
                <a:solidFill>
                  <a:srgbClr val="000000"/>
                </a:solidFill>
              </a:rPr>
              <a:t>12. Tomato__</a:t>
            </a:r>
            <a:r>
              <a:rPr lang="en-IN" dirty="0" err="1">
                <a:solidFill>
                  <a:srgbClr val="000000"/>
                </a:solidFill>
              </a:rPr>
              <a:t>Target_Spot</a:t>
            </a:r>
            <a:r>
              <a:rPr lang="en-IN" dirty="0">
                <a:solidFill>
                  <a:srgbClr val="000000"/>
                </a:solidFill>
              </a:rPr>
              <a:t> (index: 11)</a:t>
            </a:r>
          </a:p>
          <a:p>
            <a:r>
              <a:rPr lang="en-IN" dirty="0">
                <a:solidFill>
                  <a:srgbClr val="000000"/>
                </a:solidFill>
              </a:rPr>
              <a:t>13. Tomato__Tomato_</a:t>
            </a:r>
            <a:r>
              <a:rPr lang="en-IN" dirty="0" err="1">
                <a:solidFill>
                  <a:srgbClr val="000000"/>
                </a:solidFill>
              </a:rPr>
              <a:t>YellowLeaf</a:t>
            </a:r>
            <a:r>
              <a:rPr lang="en-IN" dirty="0">
                <a:solidFill>
                  <a:srgbClr val="000000"/>
                </a:solidFill>
              </a:rPr>
              <a:t>__</a:t>
            </a:r>
            <a:r>
              <a:rPr lang="en-IN" dirty="0" err="1">
                <a:solidFill>
                  <a:srgbClr val="000000"/>
                </a:solidFill>
              </a:rPr>
              <a:t>Curl_Virus</a:t>
            </a:r>
            <a:r>
              <a:rPr lang="en-IN" dirty="0">
                <a:solidFill>
                  <a:srgbClr val="000000"/>
                </a:solidFill>
              </a:rPr>
              <a:t> (index: 12)</a:t>
            </a:r>
          </a:p>
          <a:p>
            <a:r>
              <a:rPr lang="en-IN" dirty="0">
                <a:solidFill>
                  <a:srgbClr val="000000"/>
                </a:solidFill>
              </a:rPr>
              <a:t>14. Tomato__</a:t>
            </a:r>
            <a:r>
              <a:rPr lang="en-IN" dirty="0" err="1">
                <a:solidFill>
                  <a:srgbClr val="000000"/>
                </a:solidFill>
              </a:rPr>
              <a:t>Tomato_mosaic_virus</a:t>
            </a:r>
            <a:r>
              <a:rPr lang="en-IN" dirty="0">
                <a:solidFill>
                  <a:srgbClr val="000000"/>
                </a:solidFill>
              </a:rPr>
              <a:t> (index: 13)</a:t>
            </a:r>
          </a:p>
          <a:p>
            <a:r>
              <a:rPr lang="en-IN" dirty="0">
                <a:solidFill>
                  <a:srgbClr val="000000"/>
                </a:solidFill>
              </a:rPr>
              <a:t>15. </a:t>
            </a:r>
            <a:r>
              <a:rPr lang="en-IN" dirty="0" err="1">
                <a:solidFill>
                  <a:srgbClr val="000000"/>
                </a:solidFill>
              </a:rPr>
              <a:t>Tomato_healthy</a:t>
            </a:r>
            <a:r>
              <a:rPr lang="en-IN" dirty="0">
                <a:solidFill>
                  <a:srgbClr val="000000"/>
                </a:solidFill>
              </a:rPr>
              <a:t> (index: 14)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2324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6D723-056D-CE24-3E95-66248D14EE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914400"/>
            <a:ext cx="10360152" cy="2108718"/>
          </a:xfrm>
        </p:spPr>
        <p:txBody>
          <a:bodyPr/>
          <a:lstStyle/>
          <a:p>
            <a:r>
              <a:rPr lang="en-IN" dirty="0"/>
              <a:t>Data Augmentation</a:t>
            </a:r>
            <a:br>
              <a:rPr lang="en-IN" dirty="0"/>
            </a:br>
            <a:br>
              <a:rPr lang="en-IN" dirty="0"/>
            </a:br>
            <a:r>
              <a:rPr lang="en-IN" sz="2400" dirty="0"/>
              <a:t>(We have it used in all the models)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D4D9D9F-93F1-B4A7-8B95-F044FAB776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3424"/>
          <a:stretch>
            <a:fillRect/>
          </a:stretch>
        </p:blipFill>
        <p:spPr>
          <a:xfrm>
            <a:off x="3129016" y="3254687"/>
            <a:ext cx="5933968" cy="2959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447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576313-F1C8-57CB-82F6-54BC07D3B9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BADD181-7208-6FA8-DF4A-9D95AFE9B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1" y="685794"/>
            <a:ext cx="9144018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809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A09E1-2450-225B-0D4D-E276F8231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788" y="3088432"/>
            <a:ext cx="10360152" cy="1035698"/>
          </a:xfrm>
        </p:spPr>
        <p:txBody>
          <a:bodyPr/>
          <a:lstStyle/>
          <a:p>
            <a:r>
              <a:rPr lang="en-IN" dirty="0"/>
              <a:t>1.Normal CNN- All 15 Classes</a:t>
            </a:r>
          </a:p>
        </p:txBody>
      </p:sp>
    </p:spTree>
    <p:extLst>
      <p:ext uri="{BB962C8B-B14F-4D97-AF65-F5344CB8AC3E}">
        <p14:creationId xmlns:p14="http://schemas.microsoft.com/office/powerpoint/2010/main" val="3801680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D2B490-3C12-75C6-3DDC-E25042BF79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E4F617-A81B-FC08-2321-12B8BBDDA8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8705"/>
          <a:stretch>
            <a:fillRect/>
          </a:stretch>
        </p:blipFill>
        <p:spPr>
          <a:xfrm>
            <a:off x="2946851" y="2284561"/>
            <a:ext cx="5933968" cy="325934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0595FC4-205E-C92C-B62E-A5A994DED236}"/>
              </a:ext>
            </a:extLst>
          </p:cNvPr>
          <p:cNvSpPr txBox="1"/>
          <p:nvPr/>
        </p:nvSpPr>
        <p:spPr>
          <a:xfrm>
            <a:off x="1203648" y="978196"/>
            <a:ext cx="100210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latin typeface="+mj-lt"/>
                <a:ea typeface="+mj-ea"/>
                <a:cs typeface="+mj-cs"/>
              </a:rPr>
              <a:t>Training</a:t>
            </a:r>
            <a:r>
              <a:rPr lang="en-IN" dirty="0"/>
              <a:t> </a:t>
            </a:r>
            <a:r>
              <a:rPr lang="en-IN" sz="4800" dirty="0">
                <a:latin typeface="+mj-lt"/>
                <a:ea typeface="+mj-ea"/>
                <a:cs typeface="+mj-cs"/>
              </a:rPr>
              <a:t>and</a:t>
            </a:r>
            <a:r>
              <a:rPr lang="en-IN" dirty="0"/>
              <a:t> </a:t>
            </a:r>
            <a:r>
              <a:rPr lang="en-IN" sz="4800" dirty="0">
                <a:latin typeface="+mj-lt"/>
                <a:ea typeface="+mj-ea"/>
                <a:cs typeface="+mj-cs"/>
              </a:rPr>
              <a:t>Validation data split</a:t>
            </a:r>
          </a:p>
        </p:txBody>
      </p:sp>
    </p:spTree>
    <p:extLst>
      <p:ext uri="{BB962C8B-B14F-4D97-AF65-F5344CB8AC3E}">
        <p14:creationId xmlns:p14="http://schemas.microsoft.com/office/powerpoint/2010/main" val="3094409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32FD8B6-851B-A03F-BCDC-4258B0FFAF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"/>
          <a:stretch>
            <a:fillRect/>
          </a:stretch>
        </p:blipFill>
        <p:spPr>
          <a:xfrm>
            <a:off x="2500504" y="1567543"/>
            <a:ext cx="6841460" cy="518676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45257E4-858C-0C7C-786A-465B3F9404DD}"/>
              </a:ext>
            </a:extLst>
          </p:cNvPr>
          <p:cNvSpPr txBox="1"/>
          <p:nvPr/>
        </p:nvSpPr>
        <p:spPr>
          <a:xfrm>
            <a:off x="1714267" y="419876"/>
            <a:ext cx="8763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latin typeface="+mj-lt"/>
                <a:ea typeface="+mj-ea"/>
                <a:cs typeface="+mj-cs"/>
              </a:rPr>
              <a:t>Model</a:t>
            </a:r>
            <a:r>
              <a:rPr lang="en-IN" dirty="0"/>
              <a:t> </a:t>
            </a:r>
            <a:r>
              <a:rPr lang="en-IN" sz="4800" dirty="0">
                <a:latin typeface="+mj-lt"/>
                <a:ea typeface="+mj-ea"/>
                <a:cs typeface="+mj-cs"/>
              </a:rPr>
              <a:t>Structure</a:t>
            </a:r>
          </a:p>
        </p:txBody>
      </p:sp>
    </p:spTree>
    <p:extLst>
      <p:ext uri="{BB962C8B-B14F-4D97-AF65-F5344CB8AC3E}">
        <p14:creationId xmlns:p14="http://schemas.microsoft.com/office/powerpoint/2010/main" val="1096717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F087F13-29CD-B7CB-5022-A22D421D4924}"/>
              </a:ext>
            </a:extLst>
          </p:cNvPr>
          <p:cNvSpPr txBox="1"/>
          <p:nvPr/>
        </p:nvSpPr>
        <p:spPr>
          <a:xfrm>
            <a:off x="6279420" y="684711"/>
            <a:ext cx="564665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/>
          </a:p>
          <a:p>
            <a:r>
              <a:rPr lang="en-US" sz="2000" dirty="0"/>
              <a:t>⏱ Training completed in 2380.20 seconds</a:t>
            </a:r>
          </a:p>
          <a:p>
            <a:r>
              <a:rPr lang="en-US" sz="2000" dirty="0"/>
              <a:t>✅ Validation Accuracy: 87.89%</a:t>
            </a:r>
          </a:p>
          <a:p>
            <a:r>
              <a:rPr lang="en-US" sz="2000" dirty="0"/>
              <a:t>💾 Model saved as 'plant_disease_cnn_model.h5’</a:t>
            </a:r>
          </a:p>
          <a:p>
            <a:endParaRPr lang="en-IN" sz="2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3D71D75-0111-90E8-EB36-A02D7B7580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876" r="25645"/>
          <a:stretch>
            <a:fillRect/>
          </a:stretch>
        </p:blipFill>
        <p:spPr>
          <a:xfrm>
            <a:off x="628455" y="1212980"/>
            <a:ext cx="5284127" cy="4975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000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F06B871-947F-5192-9E9F-A2B43AF97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6D8E686-F75A-83DA-9242-1BBFB4867BB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351315" y="5037556"/>
            <a:ext cx="7150608" cy="1290219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The graphs show that both </a:t>
            </a:r>
            <a:r>
              <a:rPr lang="en-US" b="1" dirty="0"/>
              <a:t>training and validation accuracy increase</a:t>
            </a:r>
            <a:r>
              <a:rPr lang="en-US" dirty="0"/>
              <a:t> while </a:t>
            </a:r>
            <a:r>
              <a:rPr lang="en-US" b="1" dirty="0"/>
              <a:t>loss decreases</a:t>
            </a:r>
            <a:r>
              <a:rPr lang="en-US" dirty="0"/>
              <a:t> steadily over epochs — indicating the model is </a:t>
            </a:r>
            <a:r>
              <a:rPr lang="en-US" b="1" dirty="0"/>
              <a:t>learning effectively</a:t>
            </a:r>
            <a:r>
              <a:rPr lang="en-US" dirty="0"/>
              <a:t> without overfitting. Validation accuracy slightly exceeds training accuracy, suggesting </a:t>
            </a:r>
            <a:r>
              <a:rPr lang="en-US" b="1" dirty="0"/>
              <a:t>good generalization</a:t>
            </a:r>
            <a:r>
              <a:rPr lang="en-US" dirty="0"/>
              <a:t> to unseen data.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CD348E-9357-0442-4555-AF6B4AFE3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11B81AC-16F6-AE18-82EA-B64D6B4D47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96" y="415068"/>
            <a:ext cx="10929208" cy="4371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8A5CF-CF70-E5CD-9106-8221E4C5E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6F526C-D4C3-2524-F105-414B083EB7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2F8893-B187-6E1A-233E-25FB8256D3CE}"/>
              </a:ext>
            </a:extLst>
          </p:cNvPr>
          <p:cNvSpPr txBox="1"/>
          <p:nvPr/>
        </p:nvSpPr>
        <p:spPr>
          <a:xfrm>
            <a:off x="914400" y="2280567"/>
            <a:ext cx="1003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Normal CNN performance is quite satisfactory (Accuracy 90% for 15 classes &amp; 10 epochs).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1106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AC713-D75C-66E5-DDD0-FCB61C969A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2. Then used 3 Classes (Potato)</a:t>
            </a:r>
          </a:p>
        </p:txBody>
      </p:sp>
    </p:spTree>
    <p:extLst>
      <p:ext uri="{BB962C8B-B14F-4D97-AF65-F5344CB8AC3E}">
        <p14:creationId xmlns:p14="http://schemas.microsoft.com/office/powerpoint/2010/main" val="1287554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5BAC3D-60A1-816B-5C79-2E8B6D980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645FA44-BBD2-3599-33B5-4F06645899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261" y="1548745"/>
            <a:ext cx="5430008" cy="353426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510CFFD-4D7B-5E47-7921-4268206D642D}"/>
              </a:ext>
            </a:extLst>
          </p:cNvPr>
          <p:cNvSpPr txBox="1"/>
          <p:nvPr/>
        </p:nvSpPr>
        <p:spPr>
          <a:xfrm>
            <a:off x="6198878" y="3070781"/>
            <a:ext cx="54015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</a:rPr>
              <a:t>⏱ Training completed in 228.29 seconds</a:t>
            </a:r>
          </a:p>
          <a:p>
            <a:r>
              <a:rPr lang="en-US" sz="2000" dirty="0">
                <a:solidFill>
                  <a:srgbClr val="000000"/>
                </a:solidFill>
              </a:rPr>
              <a:t>✅ Validation Accuracy: 96.05%</a:t>
            </a:r>
          </a:p>
          <a:p>
            <a:r>
              <a:rPr lang="en-US" sz="2000" dirty="0">
                <a:solidFill>
                  <a:srgbClr val="000000"/>
                </a:solidFill>
              </a:rPr>
              <a:t>💾 Model saved as 'potato_disease_cnn_model.h5'</a:t>
            </a:r>
            <a:endParaRPr lang="en-IN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01069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012FDC-7484-2B3B-E496-144348256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6285851-C9D7-637C-ED92-4E7B756C7B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257" y="1134750"/>
            <a:ext cx="11471251" cy="458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3489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BB9AD-94FA-28D0-563A-95B7B9868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08D4C-E7B8-4C9D-DDBE-42145F054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B98620-08D1-73AA-48D5-6AA52BECCB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1DAC2F-BA9D-076E-D47E-64B5BEB46D69}"/>
              </a:ext>
            </a:extLst>
          </p:cNvPr>
          <p:cNvSpPr txBox="1"/>
          <p:nvPr/>
        </p:nvSpPr>
        <p:spPr>
          <a:xfrm>
            <a:off x="923827" y="2271859"/>
            <a:ext cx="1003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Prediction becomes easy with 3 classes. Hence accuracy increases ~ 96%.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80102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6059A-F0C9-FA7B-2CD2-73E82B1EB4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Reducing learning rate</a:t>
            </a:r>
          </a:p>
        </p:txBody>
      </p:sp>
    </p:spTree>
    <p:extLst>
      <p:ext uri="{BB962C8B-B14F-4D97-AF65-F5344CB8AC3E}">
        <p14:creationId xmlns:p14="http://schemas.microsoft.com/office/powerpoint/2010/main" val="30530362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0443D14F-6327-A5F2-009A-21BD4518879D}"/>
              </a:ext>
            </a:extLst>
          </p:cNvPr>
          <p:cNvSpPr txBox="1"/>
          <p:nvPr/>
        </p:nvSpPr>
        <p:spPr>
          <a:xfrm>
            <a:off x="4462670" y="248478"/>
            <a:ext cx="6271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optimizer = </a:t>
            </a:r>
            <a:r>
              <a:rPr lang="en-IN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tf.keras.optimizers.Adam</a:t>
            </a:r>
            <a:r>
              <a:rPr lang="en-IN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IN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learning_rate</a:t>
            </a:r>
            <a:r>
              <a:rPr lang="en-IN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=1e-4)</a:t>
            </a:r>
          </a:p>
          <a:p>
            <a:endParaRPr lang="en-IN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CD71EFE-4717-9EF7-10CA-863A2A938F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942" y="1252332"/>
            <a:ext cx="11902116" cy="4760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9098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EAA1C-C5D9-6FD0-1ED5-2F763CB3B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D99A1-8209-FC87-5034-EEBFD6AAA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D4F6A0-6531-93D9-DF77-5986234673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79F905-DE82-EE63-E3A2-FE7E46758A76}"/>
              </a:ext>
            </a:extLst>
          </p:cNvPr>
          <p:cNvSpPr txBox="1"/>
          <p:nvPr/>
        </p:nvSpPr>
        <p:spPr>
          <a:xfrm>
            <a:off x="914400" y="2290712"/>
            <a:ext cx="1003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Fluctuations in accuracy reduces with reducing learning rate.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50856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E2329-5069-20CE-1FBC-A2E86065BA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3. Transfer Learning (using 10 classes of tomato)</a:t>
            </a:r>
            <a:br>
              <a:rPr lang="en-IN" dirty="0"/>
            </a:br>
            <a:br>
              <a:rPr lang="en-IN" dirty="0"/>
            </a:br>
            <a:r>
              <a:rPr lang="en-IN" sz="2000" dirty="0"/>
              <a:t>Model Size = 20 MB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80501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1236E-D32E-0854-FB9B-D140CFDEA3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3.1 EfficientNetB0</a:t>
            </a:r>
          </a:p>
        </p:txBody>
      </p:sp>
    </p:spTree>
    <p:extLst>
      <p:ext uri="{BB962C8B-B14F-4D97-AF65-F5344CB8AC3E}">
        <p14:creationId xmlns:p14="http://schemas.microsoft.com/office/powerpoint/2010/main" val="31426419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9500A-4B75-29F9-CE37-C3E13D6A56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C195844-6C86-0F33-CED2-D90F49B498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6468" y="2439481"/>
            <a:ext cx="7259063" cy="419158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50DC862-A039-5623-C2D2-DF519E948A78}"/>
              </a:ext>
            </a:extLst>
          </p:cNvPr>
          <p:cNvSpPr txBox="1"/>
          <p:nvPr/>
        </p:nvSpPr>
        <p:spPr>
          <a:xfrm>
            <a:off x="1888847" y="1355938"/>
            <a:ext cx="8414303" cy="923330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base_model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EfficientNetB0(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weights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imagenet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include_top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input_shape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img_size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,))</a:t>
            </a:r>
          </a:p>
          <a:p>
            <a:pPr>
              <a:buNone/>
            </a:pP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base_model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.trainable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Freeze pretrained layers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264BE1-2AF0-7C29-6EE8-0C71E3A26850}"/>
              </a:ext>
            </a:extLst>
          </p:cNvPr>
          <p:cNvSpPr txBox="1"/>
          <p:nvPr/>
        </p:nvSpPr>
        <p:spPr>
          <a:xfrm>
            <a:off x="2034073" y="167951"/>
            <a:ext cx="81549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latin typeface="+mj-lt"/>
                <a:ea typeface="+mj-ea"/>
                <a:cs typeface="+mj-cs"/>
              </a:rPr>
              <a:t>Model</a:t>
            </a:r>
            <a:r>
              <a:rPr lang="en-IN" dirty="0"/>
              <a:t> </a:t>
            </a:r>
            <a:r>
              <a:rPr lang="en-IN" sz="4800" dirty="0">
                <a:latin typeface="+mj-lt"/>
                <a:ea typeface="+mj-ea"/>
                <a:cs typeface="+mj-cs"/>
              </a:rPr>
              <a:t>Structure</a:t>
            </a:r>
          </a:p>
        </p:txBody>
      </p:sp>
    </p:spTree>
    <p:extLst>
      <p:ext uri="{BB962C8B-B14F-4D97-AF65-F5344CB8AC3E}">
        <p14:creationId xmlns:p14="http://schemas.microsoft.com/office/powerpoint/2010/main" val="41321475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7E72E07-2336-BD9F-8C56-6A253A38B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7296"/>
            <a:ext cx="12192000" cy="7899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9E7D0B6-1D1E-DB43-8D31-9505B7CDF7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431" y="1642616"/>
            <a:ext cx="10972822" cy="457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8285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D631A-6376-2C9B-B890-AC25862DDB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Fine Tuned</a:t>
            </a:r>
          </a:p>
        </p:txBody>
      </p:sp>
    </p:spTree>
    <p:extLst>
      <p:ext uri="{BB962C8B-B14F-4D97-AF65-F5344CB8AC3E}">
        <p14:creationId xmlns:p14="http://schemas.microsoft.com/office/powerpoint/2010/main" val="601922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6C75D-1C5D-EF9D-4432-56BC1D4218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8096" y="484632"/>
            <a:ext cx="10817352" cy="5678424"/>
          </a:xfrm>
          <a:solidFill>
            <a:srgbClr val="000000"/>
          </a:solidFill>
        </p:spPr>
        <p:txBody>
          <a:bodyPr/>
          <a:lstStyle/>
          <a:p>
            <a:pPr>
              <a:lnSpc>
                <a:spcPct val="100000"/>
              </a:lnSpc>
              <a:buNone/>
            </a:pPr>
            <a:r>
              <a:rPr lang="en-IN" sz="1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IN" sz="1800" b="0" dirty="0" err="1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IN" sz="1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Building</a:t>
            </a:r>
            <a:r>
              <a:rPr lang="en-I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fine-tuning model..."</a:t>
            </a:r>
            <a:r>
              <a:rPr lang="en-I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I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base_model</a:t>
            </a:r>
            <a:r>
              <a:rPr lang="en-I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EfficientNetB0(</a:t>
            </a:r>
            <a:r>
              <a:rPr lang="en-IN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weights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imagenet</a:t>
            </a:r>
            <a:r>
              <a:rPr lang="en-I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include_top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I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input_shape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img_size</a:t>
            </a:r>
            <a:r>
              <a:rPr lang="en-I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,))</a:t>
            </a:r>
            <a:br>
              <a:rPr lang="en-I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en-I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en-I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1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1. Unfreeze the base model</a:t>
            </a:r>
            <a:br>
              <a:rPr lang="en-I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base_model</a:t>
            </a:r>
            <a:r>
              <a:rPr lang="en-IN" sz="1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.trainable</a:t>
            </a:r>
            <a:r>
              <a:rPr lang="en-I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br>
              <a:rPr lang="en-I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en-I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en-I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1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2. Freeze all layers *except* the last 50</a:t>
            </a:r>
            <a:br>
              <a:rPr lang="en-I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unfreeze_last_n_layers</a:t>
            </a:r>
            <a:r>
              <a:rPr lang="en-I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I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br>
              <a:rPr lang="en-I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freeze_until_layer</a:t>
            </a:r>
            <a:r>
              <a:rPr lang="en-I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I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base_model</a:t>
            </a:r>
            <a:r>
              <a:rPr lang="en-IN" sz="1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.layers</a:t>
            </a:r>
            <a:r>
              <a:rPr lang="en-I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unfreeze_last_n_layers</a:t>
            </a:r>
            <a:br>
              <a:rPr lang="en-I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en-I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en-I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1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IN" sz="1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"Total</a:t>
            </a:r>
            <a:r>
              <a:rPr lang="en-I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layers in </a:t>
            </a:r>
            <a:r>
              <a:rPr lang="en-IN" sz="1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base_model</a:t>
            </a:r>
            <a:r>
              <a:rPr lang="en-I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I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base_model</a:t>
            </a:r>
            <a:r>
              <a:rPr lang="en-IN" sz="1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.layers</a:t>
            </a:r>
            <a:r>
              <a:rPr lang="en-I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I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1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IN" sz="1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"Freezing</a:t>
            </a:r>
            <a:r>
              <a:rPr lang="en-I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all layers up to layer </a:t>
            </a:r>
            <a:r>
              <a:rPr lang="en-IN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freeze_until_layer</a:t>
            </a:r>
            <a:r>
              <a:rPr lang="en-IN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..."</a:t>
            </a:r>
            <a:r>
              <a:rPr lang="en-I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I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en-I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en-I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1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I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layer</a:t>
            </a:r>
            <a:r>
              <a:rPr lang="en-I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I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base_model</a:t>
            </a:r>
            <a:r>
              <a:rPr lang="en-IN" sz="1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.layers</a:t>
            </a:r>
            <a:r>
              <a:rPr lang="en-I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[:</a:t>
            </a:r>
            <a:r>
              <a:rPr lang="en-IN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freeze_until_layer</a:t>
            </a:r>
            <a:r>
              <a:rPr lang="en-I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]:</a:t>
            </a:r>
            <a:br>
              <a:rPr lang="en-I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layer</a:t>
            </a:r>
            <a:r>
              <a:rPr lang="en-IN" sz="1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.trainable</a:t>
            </a:r>
            <a:r>
              <a:rPr lang="en-I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endParaRPr lang="en-IN" sz="1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16101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679B1-0A96-A906-C3FC-180484603B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574BF6-63A9-5591-637F-5B01547B35B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411371" y="1165202"/>
            <a:ext cx="10866229" cy="4527595"/>
          </a:xfrm>
        </p:spPr>
      </p:pic>
    </p:spTree>
    <p:extLst>
      <p:ext uri="{BB962C8B-B14F-4D97-AF65-F5344CB8AC3E}">
        <p14:creationId xmlns:p14="http://schemas.microsoft.com/office/powerpoint/2010/main" val="24167876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4BEFF-9EFC-F216-1DBF-A20689082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dirty="0"/>
              <a:t>Conclusion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C553DB-1838-F0EF-E7CE-3B0E677D2E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BC8468-D5DA-4467-E6E5-02BDB9EF48BA}"/>
              </a:ext>
            </a:extLst>
          </p:cNvPr>
          <p:cNvSpPr txBox="1"/>
          <p:nvPr/>
        </p:nvSpPr>
        <p:spPr>
          <a:xfrm>
            <a:off x="966247" y="2381112"/>
            <a:ext cx="10256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EfficientNet</a:t>
            </a:r>
            <a:r>
              <a:rPr lang="en-IN" dirty="0"/>
              <a:t> is not at all capable for solving this problem. Fine tuning also doesn’t works.</a:t>
            </a:r>
          </a:p>
        </p:txBody>
      </p:sp>
    </p:spTree>
    <p:extLst>
      <p:ext uri="{BB962C8B-B14F-4D97-AF65-F5344CB8AC3E}">
        <p14:creationId xmlns:p14="http://schemas.microsoft.com/office/powerpoint/2010/main" val="16839477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A1C6D-0011-FFC2-F297-68A209E53C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3.2.MobileNet</a:t>
            </a:r>
            <a:br>
              <a:rPr lang="en-IN" dirty="0"/>
            </a:br>
            <a:r>
              <a:rPr lang="en-IN" dirty="0"/>
              <a:t> (Also incorporated dataset balancing)</a:t>
            </a:r>
            <a:br>
              <a:rPr lang="en-IN" dirty="0"/>
            </a:br>
            <a:br>
              <a:rPr lang="en-IN" dirty="0"/>
            </a:br>
            <a:r>
              <a:rPr lang="en-IN" sz="2000" dirty="0"/>
              <a:t>Model Size: 8.7 MB</a:t>
            </a:r>
          </a:p>
        </p:txBody>
      </p:sp>
    </p:spTree>
    <p:extLst>
      <p:ext uri="{BB962C8B-B14F-4D97-AF65-F5344CB8AC3E}">
        <p14:creationId xmlns:p14="http://schemas.microsoft.com/office/powerpoint/2010/main" val="52096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45D0-6167-6A16-B1D2-5B6B9CD51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418B5C-79D4-66D3-7BBE-B8763E7C9E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30678"/>
          <a:stretch>
            <a:fillRect/>
          </a:stretch>
        </p:blipFill>
        <p:spPr>
          <a:xfrm>
            <a:off x="1001467" y="105639"/>
            <a:ext cx="8194488" cy="27016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5A33CD-F71F-2BDD-564F-F068E74EF4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467" y="2940628"/>
            <a:ext cx="7990609" cy="3759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2814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96E6AC-3BE4-5D35-B7F8-96CE4DA11E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AA1CE8-8774-F729-7D3F-005B12372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402" y="1546249"/>
            <a:ext cx="8649907" cy="488254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069C753-9A3D-6B69-E6ED-29AF3BB6BE05}"/>
              </a:ext>
            </a:extLst>
          </p:cNvPr>
          <p:cNvSpPr txBox="1"/>
          <p:nvPr/>
        </p:nvSpPr>
        <p:spPr>
          <a:xfrm>
            <a:off x="1519334" y="429208"/>
            <a:ext cx="90040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latin typeface="+mj-lt"/>
                <a:ea typeface="+mj-ea"/>
                <a:cs typeface="+mj-cs"/>
              </a:rPr>
              <a:t>Model Structure for Stage 1</a:t>
            </a:r>
          </a:p>
        </p:txBody>
      </p:sp>
    </p:spTree>
    <p:extLst>
      <p:ext uri="{BB962C8B-B14F-4D97-AF65-F5344CB8AC3E}">
        <p14:creationId xmlns:p14="http://schemas.microsoft.com/office/powerpoint/2010/main" val="5079559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8DBADD-3C23-C82C-9901-AA8FA057D1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FF322A-B3F4-11F9-8A52-DB1947B1D6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888" y="1250302"/>
            <a:ext cx="8764223" cy="51128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D263D3E-7F75-29F2-6D47-A023894AA45C}"/>
              </a:ext>
            </a:extLst>
          </p:cNvPr>
          <p:cNvSpPr txBox="1"/>
          <p:nvPr/>
        </p:nvSpPr>
        <p:spPr>
          <a:xfrm>
            <a:off x="1713888" y="354564"/>
            <a:ext cx="832585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latin typeface="+mj-lt"/>
                <a:ea typeface="+mj-ea"/>
                <a:cs typeface="+mj-cs"/>
              </a:rPr>
              <a:t>Model</a:t>
            </a:r>
            <a:r>
              <a:rPr lang="en-IN" dirty="0"/>
              <a:t> </a:t>
            </a:r>
            <a:r>
              <a:rPr lang="en-IN" sz="4800" dirty="0">
                <a:latin typeface="+mj-lt"/>
                <a:ea typeface="+mj-ea"/>
                <a:cs typeface="+mj-cs"/>
              </a:rPr>
              <a:t>Structure for Stage 2</a:t>
            </a:r>
          </a:p>
          <a:p>
            <a:pPr algn="ctr"/>
            <a:r>
              <a:rPr lang="en-IN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7018872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DC69BA-E7D4-23FA-D464-B23DBA0904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30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7460C5-39ED-80EF-48C3-D48A6241FB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547"/>
          <a:stretch>
            <a:fillRect/>
          </a:stretch>
        </p:blipFill>
        <p:spPr>
          <a:xfrm>
            <a:off x="-72562" y="387626"/>
            <a:ext cx="12337123" cy="5864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9006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BB932-55C3-B88F-5E86-68318811CA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3.3 </a:t>
            </a:r>
            <a:r>
              <a:rPr lang="en-IN" dirty="0" err="1"/>
              <a:t>ResNet</a:t>
            </a:r>
            <a:br>
              <a:rPr lang="en-IN" dirty="0"/>
            </a:br>
            <a:r>
              <a:rPr lang="en-IN" dirty="0"/>
              <a:t> (Also incorporated dataset balancing)</a:t>
            </a:r>
            <a:br>
              <a:rPr lang="en-IN" dirty="0"/>
            </a:br>
            <a:br>
              <a:rPr lang="en-IN" dirty="0"/>
            </a:br>
            <a:r>
              <a:rPr lang="en-IN" sz="1800" dirty="0"/>
              <a:t>Model Size: 90 MB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79856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A749A-965B-52B1-E563-95EE3A6B2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E3AE2-878E-B59D-224E-551C6AE93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05283C-82FD-6499-DB0D-239BD523E8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30678"/>
          <a:stretch>
            <a:fillRect/>
          </a:stretch>
        </p:blipFill>
        <p:spPr>
          <a:xfrm>
            <a:off x="1001467" y="105639"/>
            <a:ext cx="8194488" cy="27016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C01475-0F3B-4DED-C8A9-2A3A66FCA1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467" y="2940628"/>
            <a:ext cx="7990609" cy="3759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7064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970E50-430E-4538-84AA-ED01BC2724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33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BAC10F-0FF2-C990-DCAA-F424AB831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650" y="1474237"/>
            <a:ext cx="9092699" cy="48633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6E31552-4AF2-F4A7-BAAC-DBDCC859135E}"/>
              </a:ext>
            </a:extLst>
          </p:cNvPr>
          <p:cNvSpPr txBox="1"/>
          <p:nvPr/>
        </p:nvSpPr>
        <p:spPr>
          <a:xfrm>
            <a:off x="1549650" y="520408"/>
            <a:ext cx="8645598" cy="926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5400" dirty="0">
                <a:latin typeface="+mj-lt"/>
                <a:ea typeface="+mj-ea"/>
                <a:cs typeface="+mj-cs"/>
              </a:rPr>
              <a:t>Model</a:t>
            </a:r>
            <a:r>
              <a:rPr lang="en-IN" sz="4800" dirty="0">
                <a:latin typeface="+mj-lt"/>
                <a:ea typeface="+mj-ea"/>
                <a:cs typeface="+mj-cs"/>
              </a:rPr>
              <a:t> Structure for Stage 1</a:t>
            </a:r>
          </a:p>
        </p:txBody>
      </p:sp>
    </p:spTree>
    <p:extLst>
      <p:ext uri="{BB962C8B-B14F-4D97-AF65-F5344CB8AC3E}">
        <p14:creationId xmlns:p14="http://schemas.microsoft.com/office/powerpoint/2010/main" val="5966118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C683BF-8410-A0E0-42AE-90F1F08243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34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CB3D1A-893E-7751-7143-0D36F225B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862" y="1539551"/>
            <a:ext cx="8602275" cy="469019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7847F8-0BF3-6EFC-55C0-4D3788018936}"/>
              </a:ext>
            </a:extLst>
          </p:cNvPr>
          <p:cNvSpPr txBox="1"/>
          <p:nvPr/>
        </p:nvSpPr>
        <p:spPr>
          <a:xfrm>
            <a:off x="1549650" y="520408"/>
            <a:ext cx="8645598" cy="926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5400" dirty="0">
                <a:latin typeface="+mj-lt"/>
                <a:ea typeface="+mj-ea"/>
                <a:cs typeface="+mj-cs"/>
              </a:rPr>
              <a:t>Model</a:t>
            </a:r>
            <a:r>
              <a:rPr lang="en-IN" sz="4800" dirty="0">
                <a:latin typeface="+mj-lt"/>
                <a:ea typeface="+mj-ea"/>
                <a:cs typeface="+mj-cs"/>
              </a:rPr>
              <a:t> Structure for Stage 2</a:t>
            </a:r>
          </a:p>
        </p:txBody>
      </p:sp>
    </p:spTree>
    <p:extLst>
      <p:ext uri="{BB962C8B-B14F-4D97-AF65-F5344CB8AC3E}">
        <p14:creationId xmlns:p14="http://schemas.microsoft.com/office/powerpoint/2010/main" val="17019580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8AEB72-A4FF-2019-5291-8FBC3DA422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35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1C43FF-D167-88A1-EB80-C154C38D7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808" y="818785"/>
            <a:ext cx="10812384" cy="5220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3027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006320-A502-0ADB-612A-43DB5F5BDA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36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6144D5-EA14-3C40-B74A-59D607C35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9659" y="4512468"/>
            <a:ext cx="5872444" cy="21192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9479401-2104-E614-B457-0088F43088BA}"/>
              </a:ext>
            </a:extLst>
          </p:cNvPr>
          <p:cNvSpPr txBox="1"/>
          <p:nvPr/>
        </p:nvSpPr>
        <p:spPr>
          <a:xfrm>
            <a:off x="197963" y="226243"/>
            <a:ext cx="111558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u="sng" dirty="0" err="1">
                <a:solidFill>
                  <a:srgbClr val="00206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MobileNet</a:t>
            </a:r>
            <a:r>
              <a:rPr lang="en-IN" sz="2800" u="sng" dirty="0">
                <a:solidFill>
                  <a:srgbClr val="00206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vs. Resnet Inference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338E4B-3C96-5957-6189-476EC925F609}"/>
              </a:ext>
            </a:extLst>
          </p:cNvPr>
          <p:cNvSpPr txBox="1"/>
          <p:nvPr/>
        </p:nvSpPr>
        <p:spPr>
          <a:xfrm>
            <a:off x="6096000" y="977211"/>
            <a:ext cx="6012000" cy="3139321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Build model and load weights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model_mnet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build_model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mobilenet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num_classes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weights_mnet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"tomato_disease_mobilenet_2stage_weights.h5"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exists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weights_mnet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raise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FileNotFoundError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"Missing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file: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weights_mnet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model_mnet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.load_weights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weights_mnet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"MobileNetV2 weights loaded."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B4FABD-DB0C-D8CF-0D99-12F0438F8229}"/>
              </a:ext>
            </a:extLst>
          </p:cNvPr>
          <p:cNvSpPr txBox="1"/>
          <p:nvPr/>
        </p:nvSpPr>
        <p:spPr>
          <a:xfrm>
            <a:off x="84000" y="977210"/>
            <a:ext cx="5940000" cy="3139321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Build model and load weights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model_resnet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build_model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resnet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num_classes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weights_resnet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"tomato_disease_resnet_2stage_weights.h5"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exists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weights_resnet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raise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FileNotFoundError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"Missing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file: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weights_resnet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model_resnet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.load_weights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weights_resnet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"ResNet50V2 weights loaded."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335566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BD93F-36FA-DD41-1C4A-595363E4ED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/>
              <a:t>Bonus: Running the models for 15 + 30 epochs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28066530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C9EC6F-36E8-9F95-A72A-1BBCA6CF12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38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8A6284-6F27-3E73-B70F-2207D84081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383" y="1579598"/>
            <a:ext cx="11847831" cy="49365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7FD4AB6-3044-565B-3673-238E6B6113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1215" y="202469"/>
            <a:ext cx="7840169" cy="114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1606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89E50E-871E-13CF-3389-5F844B9EFF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39</a:t>
            </a:fld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118095D-B4B8-F7D8-7684-E7B565FBA8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387" y="1430383"/>
            <a:ext cx="11325225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EB22916-0E38-4326-051D-D346BD7A91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2480" y="149405"/>
            <a:ext cx="7049484" cy="8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3768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2C904E-4369-FEE0-F2D1-D36195ED95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40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847099-BD26-45EB-FA71-F07E443A4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1625" y="2142309"/>
            <a:ext cx="7231074" cy="2960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21417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FBD6C1-B265-1BF8-E088-9B0B59E697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41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4BF782-4CBA-C80D-DE32-02E17B695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28" y="411474"/>
            <a:ext cx="11704343" cy="6035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318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12C7D7-E261-C150-B0EE-5FDB061815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42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623E71-913D-4FB6-7263-D9D0AD920A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28" y="411474"/>
            <a:ext cx="11704343" cy="6035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07336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44D531-C861-DAE1-D6BD-7FCE99DB44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94E020-9BCC-11F9-BB99-45EE30EF8720}"/>
              </a:ext>
            </a:extLst>
          </p:cNvPr>
          <p:cNvSpPr txBox="1"/>
          <p:nvPr/>
        </p:nvSpPr>
        <p:spPr>
          <a:xfrm>
            <a:off x="914400" y="1839310"/>
            <a:ext cx="8714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 interclass similarity is clearly evident between the classes tomato spider mite and tomato target spot.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0B90938-F772-E9FF-AD65-61164C3BBFC1}"/>
              </a:ext>
            </a:extLst>
          </p:cNvPr>
          <p:cNvSpPr txBox="1">
            <a:spLocks/>
          </p:cNvSpPr>
          <p:nvPr/>
        </p:nvSpPr>
        <p:spPr>
          <a:xfrm>
            <a:off x="914400" y="914400"/>
            <a:ext cx="10360152" cy="9144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000"/>
              <a:t>Conclusion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926454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{D0816A11-AFF5-4AFB-8D50-B98BF12F7EA6}tf11964407_win32</Template>
  <TotalTime>2977</TotalTime>
  <Words>1000</Words>
  <Application>Microsoft Office PowerPoint</Application>
  <PresentationFormat>Widescreen</PresentationFormat>
  <Paragraphs>112</Paragraphs>
  <Slides>43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1" baseType="lpstr">
      <vt:lpstr>Arial</vt:lpstr>
      <vt:lpstr>Calibri</vt:lpstr>
      <vt:lpstr>Cascadia Mono</vt:lpstr>
      <vt:lpstr>Consolas</vt:lpstr>
      <vt:lpstr>Courier New</vt:lpstr>
      <vt:lpstr>Gill Sans Nova Light</vt:lpstr>
      <vt:lpstr>Sagona Book</vt:lpstr>
      <vt:lpstr>Custom</vt:lpstr>
      <vt:lpstr>Plant Leaf Disease Detection  Group Number: G13  Members: Mainak Bose (Roll No. 23EC8082) Ayush Rai (Roll No. 23EC8081) Ramala Venkata Vamsi (Roll No. 23EC8080) </vt:lpstr>
      <vt:lpstr>PowerPoint Presentation</vt:lpstr>
      <vt:lpstr>Data Augmentation  (We have it used in all the models)</vt:lpstr>
      <vt:lpstr>PowerPoint Presentation</vt:lpstr>
      <vt:lpstr>1.Normal CNN- All 15 Classes</vt:lpstr>
      <vt:lpstr>PowerPoint Presentation</vt:lpstr>
      <vt:lpstr>PowerPoint Presentation</vt:lpstr>
      <vt:lpstr>PowerPoint Presentation</vt:lpstr>
      <vt:lpstr>PowerPoint Presentation</vt:lpstr>
      <vt:lpstr>Conclusion</vt:lpstr>
      <vt:lpstr>2. Then used 3 Classes (Potato)</vt:lpstr>
      <vt:lpstr>PowerPoint Presentation</vt:lpstr>
      <vt:lpstr>PowerPoint Presentation</vt:lpstr>
      <vt:lpstr>Conclusion</vt:lpstr>
      <vt:lpstr>Reducing learning rate</vt:lpstr>
      <vt:lpstr>PowerPoint Presentation</vt:lpstr>
      <vt:lpstr>Conclusion</vt:lpstr>
      <vt:lpstr>3. Transfer Learning (using 10 classes of tomato)  Model Size = 20 MB</vt:lpstr>
      <vt:lpstr>3.1 EfficientNetB0</vt:lpstr>
      <vt:lpstr>PowerPoint Presentation</vt:lpstr>
      <vt:lpstr>PowerPoint Presentation</vt:lpstr>
      <vt:lpstr>Fine Tuned</vt:lpstr>
      <vt:lpstr>print("\nBuilding fine-tuning model...") base_model = EfficientNetB0(weights='imagenet', include_top=False, input_shape=img_size + (3,))   # 1. Unfreeze the base model base_model.trainable = True   # 2. Freeze all layers *except* the last 50 unfreeze_last_n_layers = 50  freeze_until_layer = len(base_model.layers) - unfreeze_last_n_layers   print(f"Total layers in base_model: {len(base_model.layers)}") print(f"Freezing all layers up to layer {freeze_until_layer}...")   for layer in base_model.layers[:freeze_until_layer]:     layer.trainable = False</vt:lpstr>
      <vt:lpstr>PowerPoint Presentation</vt:lpstr>
      <vt:lpstr>Conclusion</vt:lpstr>
      <vt:lpstr>3.2.MobileNet  (Also incorporated dataset balancing)  Model Size: 8.7 MB</vt:lpstr>
      <vt:lpstr>PowerPoint Presentation</vt:lpstr>
      <vt:lpstr>PowerPoint Presentation</vt:lpstr>
      <vt:lpstr>PowerPoint Presentation</vt:lpstr>
      <vt:lpstr>PowerPoint Presentation</vt:lpstr>
      <vt:lpstr>3.3 ResNet  (Also incorporated dataset balancing)  Model Size: 90 MB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Bonus: Running the models for 15 + 30 epochs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Mainak Bose</dc:creator>
  <cp:lastModifiedBy>Mainak Bose</cp:lastModifiedBy>
  <cp:revision>19</cp:revision>
  <dcterms:created xsi:type="dcterms:W3CDTF">2025-10-28T16:04:16Z</dcterms:created>
  <dcterms:modified xsi:type="dcterms:W3CDTF">2025-11-11T18:58:31Z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