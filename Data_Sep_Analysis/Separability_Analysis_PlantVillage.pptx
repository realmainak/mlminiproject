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317" r:id="rId5"/>
    <p:sldId id="343" r:id="rId6"/>
    <p:sldId id="344" r:id="rId7"/>
    <p:sldId id="321" r:id="rId8"/>
    <p:sldId id="322" r:id="rId9"/>
    <p:sldId id="308" r:id="rId10"/>
    <p:sldId id="278" r:id="rId11"/>
    <p:sldId id="309" r:id="rId12"/>
    <p:sldId id="323" r:id="rId13"/>
    <p:sldId id="325" r:id="rId14"/>
    <p:sldId id="324" r:id="rId15"/>
    <p:sldId id="326" r:id="rId16"/>
    <p:sldId id="330" r:id="rId17"/>
    <p:sldId id="331" r:id="rId18"/>
    <p:sldId id="333" r:id="rId19"/>
    <p:sldId id="334" r:id="rId20"/>
    <p:sldId id="332" r:id="rId21"/>
    <p:sldId id="335" r:id="rId22"/>
    <p:sldId id="336" r:id="rId23"/>
    <p:sldId id="337" r:id="rId24"/>
    <p:sldId id="338" r:id="rId25"/>
    <p:sldId id="339" r:id="rId26"/>
    <p:sldId id="340" r:id="rId27"/>
    <p:sldId id="341" r:id="rId28"/>
    <p:sldId id="34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inak Bose" initials="MB" lastIdx="1" clrIdx="0">
    <p:extLst>
      <p:ext uri="{19B8F6BF-5375-455C-9EA6-DF929625EA0E}">
        <p15:presenceInfo xmlns:p15="http://schemas.microsoft.com/office/powerpoint/2012/main" userId="dac66d00d7fc279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FFF4ED"/>
    <a:srgbClr val="637700"/>
    <a:srgbClr val="000000"/>
    <a:srgbClr val="505A47"/>
    <a:srgbClr val="D1D8B7"/>
    <a:srgbClr val="A09D79"/>
    <a:srgbClr val="AD5C4D"/>
    <a:srgbClr val="543E35"/>
    <a:srgbClr val="5E6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5405" autoAdjust="0"/>
  </p:normalViewPr>
  <p:slideViewPr>
    <p:cSldViewPr snapToGrid="0">
      <p:cViewPr>
        <p:scale>
          <a:sx n="66" d="100"/>
          <a:sy n="66" d="100"/>
        </p:scale>
        <p:origin x="708" y="96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06T20:31:36.986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15:59:45.4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0,'7175'131'0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6T16:00:10.7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12710 54,'0'0,"0"1,0 0,0-1,0 1,-1-1,1 1,0-1,0 1,-1-1,1 1,0-1,-1 1,1-1,-1 0,1 1,-1-1,1 1,-1-1,1 0,-1 0,1 1,-1-1,1 0,-1 0,0 1,-18 3,17-3,-52 6,1-2,-94-5,79-1,-5862-1,3123 4,358-2,2241-14,36 1,98 8,-76-17,79 11,-94-5,-136 18,271-2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15:59:39.9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0,'34015'0'0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3/7/2026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customXml" Target="../ink/ink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Separability Analysis on Plant Village Dataset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A33D0B-7D95-6049-E688-B99C13EE9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B7E106-6FBB-4269-0B78-FCA0C48D2007}"/>
              </a:ext>
            </a:extLst>
          </p:cNvPr>
          <p:cNvSpPr txBox="1"/>
          <p:nvPr/>
        </p:nvSpPr>
        <p:spPr>
          <a:xfrm>
            <a:off x="1061185" y="3014718"/>
            <a:ext cx="9719110" cy="2308324"/>
          </a:xfrm>
          <a:prstGeom prst="rect">
            <a:avLst/>
          </a:prstGeom>
          <a:solidFill>
            <a:schemeClr val="accent6">
              <a:lumMod val="2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Target the GlobalAveragePooling2D layer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gap_layer_output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model.layers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[-3].output # Dependent on exact stack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Safer approach: find layer by type or name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gap_layer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.layers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isinstance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layers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.GlobalAveragePooling2D))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feature_extractor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.input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outputs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gap_layer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.output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"Feature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extractor built targeting layer: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gap_layer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.name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E071D1-EC42-EB56-08D3-6E51AA3CCAF5}"/>
              </a:ext>
            </a:extLst>
          </p:cNvPr>
          <p:cNvSpPr txBox="1"/>
          <p:nvPr/>
        </p:nvSpPr>
        <p:spPr>
          <a:xfrm>
            <a:off x="1061185" y="1534958"/>
            <a:ext cx="9596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636A58"/>
                </a:solidFill>
                <a:latin typeface="Bahnschrift SemiBold" panose="020B0502040204020203" pitchFamily="34" charset="0"/>
              </a:rPr>
              <a:t>Embeddings taken from the penultimate layer of a trained RESNET</a:t>
            </a:r>
          </a:p>
        </p:txBody>
      </p:sp>
    </p:spTree>
    <p:extLst>
      <p:ext uri="{BB962C8B-B14F-4D97-AF65-F5344CB8AC3E}">
        <p14:creationId xmlns:p14="http://schemas.microsoft.com/office/powerpoint/2010/main" val="2822791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3153E8-45F5-A1F4-BFE1-AEA35AD866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C05A61-0FF7-41FD-6779-3CE7F6D8CE81}"/>
              </a:ext>
            </a:extLst>
          </p:cNvPr>
          <p:cNvSpPr txBox="1"/>
          <p:nvPr/>
        </p:nvSpPr>
        <p:spPr>
          <a:xfrm>
            <a:off x="1937084" y="3429000"/>
            <a:ext cx="8496701" cy="1477328"/>
          </a:xfrm>
          <a:prstGeom prst="rect">
            <a:avLst/>
          </a:prstGeom>
          <a:solidFill>
            <a:schemeClr val="accent6">
              <a:lumMod val="2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Apply PCA for dimensional reduction and covariance stability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"Applying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PCA (retaining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'PCA_VARIANCE_RETAINED'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% variance)..."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pca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PCA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n_components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'PCA_VARIANCE_RETAINED'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reduced_embeddings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pca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fit_transform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raw_embeddings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87ECFD-7088-502A-B3B6-1754B717B7FD}"/>
              </a:ext>
            </a:extLst>
          </p:cNvPr>
          <p:cNvSpPr txBox="1"/>
          <p:nvPr/>
        </p:nvSpPr>
        <p:spPr>
          <a:xfrm>
            <a:off x="3206816" y="1732547"/>
            <a:ext cx="5778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636A58"/>
                </a:solidFill>
                <a:latin typeface="Bahnschrift SemiBold" panose="020B0502040204020203" pitchFamily="34" charset="0"/>
              </a:rPr>
              <a:t>Applied PCA for dimensionality reduction</a:t>
            </a:r>
          </a:p>
        </p:txBody>
      </p:sp>
    </p:spTree>
    <p:extLst>
      <p:ext uri="{BB962C8B-B14F-4D97-AF65-F5344CB8AC3E}">
        <p14:creationId xmlns:p14="http://schemas.microsoft.com/office/powerpoint/2010/main" val="654308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CD409-D55D-928B-B26A-8BF6FBA59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14FAF8-9BD7-5BC2-C559-4586F8BD6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3368F3-5DE6-B1D8-1742-549EF0306818}"/>
              </a:ext>
            </a:extLst>
          </p:cNvPr>
          <p:cNvSpPr txBox="1"/>
          <p:nvPr/>
        </p:nvSpPr>
        <p:spPr>
          <a:xfrm>
            <a:off x="3695305" y="2921168"/>
            <a:ext cx="49490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7030A0"/>
                </a:solidFill>
                <a:latin typeface="Bahnschrift SemiBold" panose="020B0502040204020203" pitchFamily="34" charset="0"/>
              </a:rPr>
              <a:t>Results</a:t>
            </a:r>
            <a:endParaRPr lang="en-IN" sz="6000" dirty="0">
              <a:solidFill>
                <a:srgbClr val="7030A0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344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3B3205-C7CB-581E-AF8B-41AB8A960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6DD0E5-820D-9B10-2B8C-F0CA25E24988}"/>
              </a:ext>
            </a:extLst>
          </p:cNvPr>
          <p:cNvSpPr txBox="1"/>
          <p:nvPr/>
        </p:nvSpPr>
        <p:spPr>
          <a:xfrm>
            <a:off x="1503969" y="3429000"/>
            <a:ext cx="8486480" cy="1200329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IN" sz="2400" dirty="0">
                <a:latin typeface="Bahnschrift SemiBold" panose="020B0502040204020203" pitchFamily="34" charset="0"/>
              </a:rPr>
              <a:t>Extracted raw feature matrix shape: (12875, 2048)</a:t>
            </a:r>
          </a:p>
          <a:p>
            <a:r>
              <a:rPr lang="en-IN" sz="2400" dirty="0">
                <a:latin typeface="Bahnschrift SemiBold" panose="020B0502040204020203" pitchFamily="34" charset="0"/>
              </a:rPr>
              <a:t>Applying PCA to </a:t>
            </a:r>
            <a:r>
              <a:rPr lang="en-IN" sz="2400" dirty="0">
                <a:highlight>
                  <a:srgbClr val="FF00FF"/>
                </a:highlight>
                <a:latin typeface="Bahnschrift SemiBold" panose="020B0502040204020203" pitchFamily="34" charset="0"/>
              </a:rPr>
              <a:t>retain 95% variance </a:t>
            </a:r>
            <a:r>
              <a:rPr lang="en-IN" sz="2400" dirty="0">
                <a:latin typeface="Bahnschrift SemiBold" panose="020B0502040204020203" pitchFamily="34" charset="0"/>
              </a:rPr>
              <a:t>for covariance stability...</a:t>
            </a:r>
          </a:p>
          <a:p>
            <a:r>
              <a:rPr lang="en-IN" sz="2400" dirty="0">
                <a:latin typeface="Bahnschrift SemiBold" panose="020B0502040204020203" pitchFamily="34" charset="0"/>
              </a:rPr>
              <a:t>PCA-reduced feature matrix shape: </a:t>
            </a:r>
            <a:r>
              <a:rPr lang="en-IN" sz="2400" dirty="0">
                <a:highlight>
                  <a:srgbClr val="FF00FF"/>
                </a:highlight>
                <a:latin typeface="Bahnschrift SemiBold" panose="020B0502040204020203" pitchFamily="34" charset="0"/>
              </a:rPr>
              <a:t>(12875, 523)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75FC28-E1EB-D1B2-DBD2-4B9C49981D6C}"/>
              </a:ext>
            </a:extLst>
          </p:cNvPr>
          <p:cNvSpPr txBox="1"/>
          <p:nvPr/>
        </p:nvSpPr>
        <p:spPr>
          <a:xfrm>
            <a:off x="1490221" y="1692733"/>
            <a:ext cx="9211558" cy="830997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IN" sz="2400" dirty="0">
                <a:latin typeface="Bahnschrift SemiBold" panose="020B0502040204020203" pitchFamily="34" charset="0"/>
              </a:rPr>
              <a:t>Weights loaded successfully!</a:t>
            </a:r>
          </a:p>
          <a:p>
            <a:r>
              <a:rPr lang="en-IN" sz="2400" dirty="0">
                <a:latin typeface="Bahnschrift SemiBold" panose="020B0502040204020203" pitchFamily="34" charset="0"/>
              </a:rPr>
              <a:t>Feature extractor built targeting layer: </a:t>
            </a:r>
            <a:r>
              <a:rPr lang="en-IN" sz="2400" dirty="0">
                <a:highlight>
                  <a:srgbClr val="FF00FF"/>
                </a:highlight>
                <a:latin typeface="Bahnschrift SemiBold" panose="020B0502040204020203" pitchFamily="34" charset="0"/>
              </a:rPr>
              <a:t>global_average_pooling2d</a:t>
            </a:r>
          </a:p>
        </p:txBody>
      </p:sp>
    </p:spTree>
    <p:extLst>
      <p:ext uri="{BB962C8B-B14F-4D97-AF65-F5344CB8AC3E}">
        <p14:creationId xmlns:p14="http://schemas.microsoft.com/office/powerpoint/2010/main" val="2346653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2B1D48-57C6-BC3A-A533-81841500031F}"/>
              </a:ext>
            </a:extLst>
          </p:cNvPr>
          <p:cNvSpPr/>
          <p:nvPr/>
        </p:nvSpPr>
        <p:spPr>
          <a:xfrm>
            <a:off x="1674829" y="545533"/>
            <a:ext cx="8977460" cy="59931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en-IN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--- 3.1 Intra-Class Variance ---</a:t>
            </a:r>
          </a:p>
          <a:p>
            <a:pPr>
              <a:defRPr/>
            </a:pPr>
            <a:endParaRPr lang="en-IN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Classes with LOWEST Intra-Class Variance (Tighter clustering):</a:t>
            </a:r>
          </a:p>
          <a:p>
            <a:pPr>
              <a:defRPr/>
            </a:pPr>
            <a:endParaRPr lang="en-IN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		Class  Variance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IN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Potato___healthy</a:t>
            </a: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0.687787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Tomato__</a:t>
            </a:r>
            <a:r>
              <a:rPr lang="en-IN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Tomato_mosaic_virus</a:t>
            </a: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0.959765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Tomato__</a:t>
            </a:r>
            <a:r>
              <a:rPr lang="en-IN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Target_Spot</a:t>
            </a: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0.987625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IN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Tomato_healthy</a:t>
            </a: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1.036653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IN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Pepper__bell___healthy</a:t>
            </a: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1.072502</a:t>
            </a:r>
          </a:p>
          <a:p>
            <a:pPr>
              <a:defRPr/>
            </a:pPr>
            <a:endParaRPr lang="en-IN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Classes with HIGHEST Intra-Class Variance (Looser clustering):</a:t>
            </a:r>
          </a:p>
          <a:p>
            <a:pPr>
              <a:defRPr/>
            </a:pPr>
            <a:endParaRPr lang="en-IN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		Class  Variance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</a:t>
            </a:r>
            <a:r>
              <a:rPr lang="en-IN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Tomato_Leaf_Mold</a:t>
            </a: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1.418953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IN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Tomato_Septoria_leaf_spot</a:t>
            </a: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1.471926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Tomato__Tomato_</a:t>
            </a:r>
            <a:r>
              <a:rPr lang="en-IN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YellowLeaf</a:t>
            </a: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__</a:t>
            </a:r>
            <a:r>
              <a:rPr lang="en-IN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Curl_Virus</a:t>
            </a: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1.554229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Pepper__bell___</a:t>
            </a:r>
            <a:r>
              <a:rPr lang="en-IN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Bacterial_spot</a:t>
            </a: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1.613164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</a:t>
            </a:r>
            <a:r>
              <a:rPr lang="en-IN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Tomato_Late_blight</a:t>
            </a: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1.898731</a:t>
            </a:r>
          </a:p>
          <a:p>
            <a:endParaRPr lang="en-IN" dirty="0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B94FD918-754A-0733-7AD5-716786F8A405}"/>
              </a:ext>
            </a:extLst>
          </p:cNvPr>
          <p:cNvSpPr/>
          <p:nvPr/>
        </p:nvSpPr>
        <p:spPr>
          <a:xfrm>
            <a:off x="7965650" y="1432874"/>
            <a:ext cx="3610466" cy="2505174"/>
          </a:xfrm>
          <a:prstGeom prst="lef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 SemiBold" panose="020B0502040204020203" pitchFamily="34" charset="0"/>
              </a:rPr>
              <a:t>These classes have the </a:t>
            </a:r>
            <a:r>
              <a:rPr lang="en-US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least</a:t>
            </a:r>
            <a:r>
              <a:rPr lang="en-US" sz="2400" dirty="0">
                <a:latin typeface="Bahnschrift SemiBold" panose="020B0502040204020203" pitchFamily="34" charset="0"/>
              </a:rPr>
              <a:t> noise </a:t>
            </a:r>
            <a:r>
              <a:rPr lang="en-US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(least</a:t>
            </a:r>
            <a:r>
              <a:rPr lang="en-US" sz="2400" dirty="0">
                <a:latin typeface="Bahnschrift SemiBold" panose="020B0502040204020203" pitchFamily="34" charset="0"/>
              </a:rPr>
              <a:t> confusion)</a:t>
            </a:r>
            <a:endParaRPr lang="en-IN" sz="2400" dirty="0">
              <a:latin typeface="Bahnschrift SemiBold" panose="020B0502040204020203" pitchFamily="34" charset="0"/>
            </a:endParaRPr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42F40DBE-968D-6CF7-EB0D-066ACD6BEBAE}"/>
              </a:ext>
            </a:extLst>
          </p:cNvPr>
          <p:cNvSpPr/>
          <p:nvPr/>
        </p:nvSpPr>
        <p:spPr>
          <a:xfrm>
            <a:off x="7965650" y="4081281"/>
            <a:ext cx="3610466" cy="2505174"/>
          </a:xfrm>
          <a:prstGeom prst="lef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 SemiBold" panose="020B0502040204020203" pitchFamily="34" charset="0"/>
              </a:rPr>
              <a:t>These classes have the </a:t>
            </a:r>
            <a:r>
              <a:rPr lang="en-US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most</a:t>
            </a:r>
            <a:r>
              <a:rPr lang="en-US" sz="2400" dirty="0">
                <a:latin typeface="Bahnschrift SemiBold" panose="020B0502040204020203" pitchFamily="34" charset="0"/>
              </a:rPr>
              <a:t> noise </a:t>
            </a:r>
            <a:r>
              <a:rPr lang="en-US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(most</a:t>
            </a:r>
            <a:r>
              <a:rPr lang="en-US" sz="2400" dirty="0">
                <a:latin typeface="Bahnschrift SemiBold" panose="020B0502040204020203" pitchFamily="34" charset="0"/>
              </a:rPr>
              <a:t> confusion)</a:t>
            </a:r>
            <a:endParaRPr lang="en-IN" sz="2400" dirty="0">
              <a:latin typeface="Bahnschrift SemiBold" panose="020B0502040204020203" pitchFamily="34" charset="0"/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/>
          <a:p>
            <a:r>
              <a:rPr lang="en-US"/>
              <a:t>overcoming nervousness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0EBDF4-3413-FCF9-2E25-9A254A61F23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827204" y="4681728"/>
            <a:ext cx="5449824" cy="1280160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EDCF6C-6144-2E3D-4A72-BAF600908F7B}"/>
              </a:ext>
            </a:extLst>
          </p:cNvPr>
          <p:cNvSpPr/>
          <p:nvPr/>
        </p:nvSpPr>
        <p:spPr>
          <a:xfrm>
            <a:off x="0" y="467898"/>
            <a:ext cx="12443382" cy="61107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--- 3.2 Inter-Class Centroid Distances ---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10 </a:t>
            </a:r>
            <a:r>
              <a:rPr kumimoji="0" lang="en-IN" sz="2000" b="1" i="0" u="sng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Confusable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Pairs (Smallest centroid distance):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Distance 16.0048 :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Tomato_Spider_mites_Two_spotted_spider_mite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&lt;--&gt; Tomato__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Target_Spot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Distance 16.1957 :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Tomato_Early_blight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&lt;--&gt;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Tomato_Septoria_leaf_spot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Distance 17.3442 : Tomato__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Target_Spot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&lt;--&gt;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Tomato_healthy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Distance 17.7017 :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Tomato_Early_blight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&lt;--&gt; Tomato__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Target_Spot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Distance 18.5400 :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Tomato_Bacterial_spot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&lt;--&gt;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Tomato_Septoria_leaf_spot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Distance 18.7793 :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Tomato_Early_blight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&lt;--&gt;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Tomato_Bacterial_spot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Distance 19.4194 :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Potato___healthy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&lt;--&gt; Potato___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Late_blight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Distance 19.4730 :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Tomato_Bacterial_spot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&lt;--&gt; Tomato__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Target_Spot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Distance 19.5305 :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Tomato_Early_blight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&lt;--&gt;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Tomato_Late_blight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Distance 20.0256 : Tomato__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Target_Spot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&lt;--&gt;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Tomato_Septoria_leaf_spot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==================================================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SEPARABILITY ANALYSIS (PART 1) COMPLETE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==================================================</a:t>
            </a: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A9936A-0030-10C5-DD5C-7AAF36B7D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74" y="1057359"/>
            <a:ext cx="10711175" cy="57183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D109D8-EEAE-54B2-598C-D4BAA9E8B357}"/>
              </a:ext>
            </a:extLst>
          </p:cNvPr>
          <p:cNvSpPr txBox="1"/>
          <p:nvPr/>
        </p:nvSpPr>
        <p:spPr>
          <a:xfrm>
            <a:off x="2921916" y="327394"/>
            <a:ext cx="6814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latin typeface="Bahnschrift SemiBold" panose="020B0502040204020203" pitchFamily="34" charset="0"/>
              </a:rPr>
              <a:t>Inter-Class Centroid Distance Heatmap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CCBDCFE-E064-28B7-B611-D69176AE43C2}"/>
              </a:ext>
            </a:extLst>
          </p:cNvPr>
          <p:cNvSpPr/>
          <p:nvPr/>
        </p:nvSpPr>
        <p:spPr>
          <a:xfrm>
            <a:off x="4854804" y="4260914"/>
            <a:ext cx="537328" cy="37707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6E51487-9AB0-A4B4-9FEE-F8D364532963}"/>
              </a:ext>
            </a:extLst>
          </p:cNvPr>
          <p:cNvSpPr/>
          <p:nvPr/>
        </p:nvSpPr>
        <p:spPr>
          <a:xfrm>
            <a:off x="9198596" y="1905784"/>
            <a:ext cx="537328" cy="37707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8D91549-6562-6502-4AF7-2CBF48F6735A}"/>
              </a:ext>
            </a:extLst>
          </p:cNvPr>
          <p:cNvSpPr/>
          <p:nvPr/>
        </p:nvSpPr>
        <p:spPr>
          <a:xfrm>
            <a:off x="8062289" y="3830424"/>
            <a:ext cx="537328" cy="37707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626A91F-697F-9DFD-8142-696FC2075A7B}"/>
              </a:ext>
            </a:extLst>
          </p:cNvPr>
          <p:cNvSpPr/>
          <p:nvPr/>
        </p:nvSpPr>
        <p:spPr>
          <a:xfrm>
            <a:off x="8392997" y="3641888"/>
            <a:ext cx="537328" cy="37707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ED12F2F-30B7-324A-7CA6-29EF6BAE9833}"/>
              </a:ext>
            </a:extLst>
          </p:cNvPr>
          <p:cNvCxnSpPr>
            <a:cxnSpLocks/>
          </p:cNvCxnSpPr>
          <p:nvPr/>
        </p:nvCxnSpPr>
        <p:spPr>
          <a:xfrm flipV="1">
            <a:off x="2993404" y="4637987"/>
            <a:ext cx="1861400" cy="669304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209FC6-FEEB-0CA3-D36B-221557B5FCC2}"/>
              </a:ext>
            </a:extLst>
          </p:cNvPr>
          <p:cNvCxnSpPr>
            <a:cxnSpLocks/>
          </p:cNvCxnSpPr>
          <p:nvPr/>
        </p:nvCxnSpPr>
        <p:spPr>
          <a:xfrm flipV="1">
            <a:off x="2921916" y="2220013"/>
            <a:ext cx="6276680" cy="3087278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31C73AE-33C2-A053-A182-B4E772F20B5C}"/>
              </a:ext>
            </a:extLst>
          </p:cNvPr>
          <p:cNvCxnSpPr>
            <a:cxnSpLocks/>
          </p:cNvCxnSpPr>
          <p:nvPr/>
        </p:nvCxnSpPr>
        <p:spPr>
          <a:xfrm flipH="1" flipV="1">
            <a:off x="8562590" y="4225707"/>
            <a:ext cx="1846368" cy="1144443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42CC971-7A7C-E19D-005C-E87A1688C2AE}"/>
              </a:ext>
            </a:extLst>
          </p:cNvPr>
          <p:cNvCxnSpPr>
            <a:cxnSpLocks/>
          </p:cNvCxnSpPr>
          <p:nvPr/>
        </p:nvCxnSpPr>
        <p:spPr>
          <a:xfrm flipH="1" flipV="1">
            <a:off x="8930325" y="4018960"/>
            <a:ext cx="1565153" cy="1351190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2ED46C3-C003-DC3A-53D8-479278B227D3}"/>
              </a:ext>
            </a:extLst>
          </p:cNvPr>
          <p:cNvSpPr txBox="1"/>
          <p:nvPr/>
        </p:nvSpPr>
        <p:spPr>
          <a:xfrm>
            <a:off x="10359618" y="4972639"/>
            <a:ext cx="1385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Bahnschrift SemiBold" panose="020B0502040204020203" pitchFamily="34" charset="0"/>
              </a:rPr>
              <a:t>Most confusing classes</a:t>
            </a:r>
            <a:endParaRPr lang="en-IN" dirty="0">
              <a:solidFill>
                <a:srgbClr val="00B05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2BE51D-BB21-E940-4352-EC090555AE9C}"/>
              </a:ext>
            </a:extLst>
          </p:cNvPr>
          <p:cNvSpPr txBox="1"/>
          <p:nvPr/>
        </p:nvSpPr>
        <p:spPr>
          <a:xfrm>
            <a:off x="2190553" y="4953786"/>
            <a:ext cx="1385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Bahnschrift SemiBold" panose="020B0502040204020203" pitchFamily="34" charset="0"/>
              </a:rPr>
              <a:t>Least confusing classes</a:t>
            </a:r>
            <a:endParaRPr lang="en-IN" dirty="0">
              <a:solidFill>
                <a:srgbClr val="00B050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48D037-0024-6A3F-60F2-291525DD39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DEF85E-A3E2-C77F-AC61-FC346CA40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703" y="1738261"/>
            <a:ext cx="9802593" cy="42487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DEFBBF-4655-5BA8-0EB5-9A5B86DED3B8}"/>
              </a:ext>
            </a:extLst>
          </p:cNvPr>
          <p:cNvSpPr txBox="1"/>
          <p:nvPr/>
        </p:nvSpPr>
        <p:spPr>
          <a:xfrm>
            <a:off x="3318234" y="712982"/>
            <a:ext cx="49490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u="sng" dirty="0">
                <a:solidFill>
                  <a:srgbClr val="000000"/>
                </a:solidFill>
                <a:latin typeface="Bahnschrift SemiBold" panose="020B0502040204020203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54430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5D815-99B5-F11A-0629-E675FC7D7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38A16A-DC92-FE36-2D29-F834CCC64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0BF25-7E76-8609-855E-09B5C298B7CB}"/>
              </a:ext>
            </a:extLst>
          </p:cNvPr>
          <p:cNvSpPr txBox="1"/>
          <p:nvPr/>
        </p:nvSpPr>
        <p:spPr>
          <a:xfrm>
            <a:off x="1957631" y="1997839"/>
            <a:ext cx="82767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7030A0"/>
                </a:solidFill>
                <a:latin typeface="Bahnschrift SemiBold" panose="020B0502040204020203" pitchFamily="34" charset="0"/>
              </a:rPr>
              <a:t>Calculating Fisher Discriminant Ratio (FDR)</a:t>
            </a:r>
            <a:endParaRPr lang="en-IN" sz="6000" dirty="0">
              <a:solidFill>
                <a:srgbClr val="7030A0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015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88EB34-BCC9-23D0-CFC1-B8E9B1326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073F15-68C3-15CC-CBFD-B19D7DF0B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47" y="56679"/>
            <a:ext cx="10069330" cy="674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832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C58581-EF7A-135B-19B6-BDC09020B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0EC38-7D83-9168-D350-EC138D2C8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2460"/>
            <a:ext cx="12192000" cy="39562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7A64F84-39BF-70EE-4916-933CF7881901}"/>
                  </a:ext>
                </a:extLst>
              </p14:cNvPr>
              <p14:cNvContentPartPr/>
              <p14:nvPr/>
            </p14:nvContentPartPr>
            <p14:xfrm>
              <a:off x="0" y="5080821"/>
              <a:ext cx="2583360" cy="47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7A64F84-39BF-70EE-4916-933CF78819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4000" y="4972821"/>
                <a:ext cx="269100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8F957CC-A43A-D0D8-D05E-3FC2BF11654E}"/>
                  </a:ext>
                </a:extLst>
              </p14:cNvPr>
              <p14:cNvContentPartPr/>
              <p14:nvPr/>
            </p14:nvContentPartPr>
            <p14:xfrm>
              <a:off x="156714" y="4398134"/>
              <a:ext cx="4575960" cy="29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8F957CC-A43A-D0D8-D05E-3FC2BF11654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714" y="4290134"/>
                <a:ext cx="468360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CBA9F14-AA96-20B0-88D3-33B4DCD74D99}"/>
                  </a:ext>
                </a:extLst>
              </p14:cNvPr>
              <p14:cNvContentPartPr/>
              <p14:nvPr/>
            </p14:nvContentPartPr>
            <p14:xfrm>
              <a:off x="0" y="4864327"/>
              <a:ext cx="12245400" cy="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CBA9F14-AA96-20B0-88D3-33B4DCD74D9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54000" y="4648327"/>
                <a:ext cx="1235304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F747D10-A607-0624-25E4-B4DAD82F327C}"/>
              </a:ext>
            </a:extLst>
          </p:cNvPr>
          <p:cNvSpPr txBox="1"/>
          <p:nvPr/>
        </p:nvSpPr>
        <p:spPr>
          <a:xfrm>
            <a:off x="3289953" y="712982"/>
            <a:ext cx="49490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u="sng" dirty="0">
                <a:solidFill>
                  <a:srgbClr val="000000"/>
                </a:solidFill>
                <a:latin typeface="Bahnschrift SemiBold" panose="020B0502040204020203" pitchFamily="34" charset="0"/>
              </a:rPr>
              <a:t>Results</a:t>
            </a:r>
            <a:endParaRPr lang="en-IN" sz="4400" u="sng" dirty="0">
              <a:solidFill>
                <a:srgbClr val="000000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803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794E05-F3A7-7CED-38B8-B6FC1F4E9F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45C978-6810-528A-0F6C-9FBFAA2C4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598" y="1859321"/>
            <a:ext cx="9516803" cy="27626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389673-881A-ED39-04D8-CBE3CEE87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598" y="4801806"/>
            <a:ext cx="9583487" cy="13432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5ADF9D-8089-AA64-A959-2C1B44D0AA80}"/>
              </a:ext>
            </a:extLst>
          </p:cNvPr>
          <p:cNvSpPr txBox="1"/>
          <p:nvPr/>
        </p:nvSpPr>
        <p:spPr>
          <a:xfrm>
            <a:off x="3252246" y="712982"/>
            <a:ext cx="49490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u="sng" dirty="0">
                <a:solidFill>
                  <a:srgbClr val="000000"/>
                </a:solidFill>
                <a:latin typeface="Bahnschrift SemiBold" panose="020B0502040204020203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573773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58CA06-20BA-DB1D-B46B-D98EB26ECD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D13296-A37D-B4D8-7298-2B8658EE37EF}"/>
              </a:ext>
            </a:extLst>
          </p:cNvPr>
          <p:cNvSpPr txBox="1"/>
          <p:nvPr/>
        </p:nvSpPr>
        <p:spPr>
          <a:xfrm>
            <a:off x="707011" y="3935692"/>
            <a:ext cx="11236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To solve the contradiction, we need a metric that looks at specific class </a:t>
            </a:r>
            <a:r>
              <a:rPr lang="en-US" i="1" dirty="0">
                <a:latin typeface="Bahnschrift SemiBold" panose="020B0502040204020203" pitchFamily="34" charset="0"/>
              </a:rPr>
              <a:t>pairs</a:t>
            </a:r>
            <a:r>
              <a:rPr lang="en-US" dirty="0">
                <a:latin typeface="Bahnschrift SemiBold" panose="020B0502040204020203" pitchFamily="34" charset="0"/>
              </a:rPr>
              <a:t>, rather than squashing the entire high-dimensional space into one single global number. Ex: Bhattacharyya and Chernoff Distance</a:t>
            </a:r>
            <a:endParaRPr lang="en-IN" dirty="0">
              <a:latin typeface="Bahnschrift SemiBol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DC110D-3FF3-CD56-6364-F7701139A182}"/>
              </a:ext>
            </a:extLst>
          </p:cNvPr>
          <p:cNvSpPr txBox="1"/>
          <p:nvPr/>
        </p:nvSpPr>
        <p:spPr>
          <a:xfrm>
            <a:off x="2599444" y="1721979"/>
            <a:ext cx="6487997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Bahnschrift SemiBold" panose="020B0502040204020203" pitchFamily="34" charset="0"/>
              </a:rPr>
              <a:t>Bhattacharyya and Chernoff Distance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818607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1DA53D-183E-3EFA-8752-DEB67F989A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0E320C-5B5E-4829-53E6-C25C3CF61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80495"/>
            <a:ext cx="10679015" cy="66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71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5BFD72-2244-2078-4F3E-BB3CD899F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56A6A2-A2DB-0284-2C2B-172135EEC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76" y="504417"/>
            <a:ext cx="10545647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414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0466FD-6937-748C-2574-3EBAAE881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29E5586-C954-73B6-49B4-48D370DF0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975" y="2828836"/>
            <a:ext cx="11375037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Both distances directly define an upper limit on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Bayes Error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—the lowest achievable error rate a linear classifier can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theoretically achieve on that feature space.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A1BD63-3E72-F025-258B-805B64891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876" y="3939926"/>
            <a:ext cx="8764223" cy="7144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5E7F21-3D7D-D616-524E-9CF1C10ACE45}"/>
              </a:ext>
            </a:extLst>
          </p:cNvPr>
          <p:cNvSpPr txBox="1"/>
          <p:nvPr/>
        </p:nvSpPr>
        <p:spPr>
          <a:xfrm>
            <a:off x="3799002" y="1046376"/>
            <a:ext cx="3761295" cy="70788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637700"/>
                </a:solidFill>
                <a:latin typeface="Bahnschrift SemiBold" panose="020B0502040204020203" pitchFamily="34" charset="0"/>
              </a:rPr>
              <a:t>ERROR BOUND</a:t>
            </a:r>
          </a:p>
        </p:txBody>
      </p:sp>
    </p:spTree>
    <p:extLst>
      <p:ext uri="{BB962C8B-B14F-4D97-AF65-F5344CB8AC3E}">
        <p14:creationId xmlns:p14="http://schemas.microsoft.com/office/powerpoint/2010/main" val="268959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6E4731-406C-2705-0604-13C9A15352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692082-3294-1CF0-18DB-4F7B0A64C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942" y="2094296"/>
            <a:ext cx="6554115" cy="32198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67F7E1-138E-F27A-3E51-165431614C10}"/>
              </a:ext>
            </a:extLst>
          </p:cNvPr>
          <p:cNvSpPr txBox="1"/>
          <p:nvPr/>
        </p:nvSpPr>
        <p:spPr>
          <a:xfrm>
            <a:off x="3289953" y="712982"/>
            <a:ext cx="49490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u="sng" dirty="0">
                <a:solidFill>
                  <a:srgbClr val="000000"/>
                </a:solidFill>
                <a:latin typeface="Bahnschrift SemiBold" panose="020B0502040204020203" pitchFamily="34" charset="0"/>
              </a:rPr>
              <a:t>Results</a:t>
            </a:r>
            <a:endParaRPr lang="en-IN" sz="4400" u="sng" dirty="0">
              <a:solidFill>
                <a:srgbClr val="000000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450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748B57-9EAD-DF22-1D0F-591539E6C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8EE2B9-6BC2-BC8E-6A30-CEA0AC7EC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598" y="328180"/>
            <a:ext cx="9154803" cy="62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858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F6EC46-5ECA-09CD-8DBF-E46DB04ED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BA9A3E-7C50-4504-7480-A6C687801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94" y="804660"/>
            <a:ext cx="10972822" cy="60533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513BB5-83A1-ECE0-3600-F1F6287F07E9}"/>
              </a:ext>
            </a:extLst>
          </p:cNvPr>
          <p:cNvSpPr txBox="1"/>
          <p:nvPr/>
        </p:nvSpPr>
        <p:spPr>
          <a:xfrm>
            <a:off x="3827282" y="160255"/>
            <a:ext cx="3808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Bahnschrift SemiBold" panose="020B0502040204020203" pitchFamily="34" charset="0"/>
              </a:rPr>
              <a:t>Bhattacharya Distance</a:t>
            </a:r>
          </a:p>
        </p:txBody>
      </p:sp>
    </p:spTree>
    <p:extLst>
      <p:ext uri="{BB962C8B-B14F-4D97-AF65-F5344CB8AC3E}">
        <p14:creationId xmlns:p14="http://schemas.microsoft.com/office/powerpoint/2010/main" val="2280697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1DAFCC-6F33-D0F0-1811-C47A4955C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BB876C-6BAC-5EA0-142A-165F1D25D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86" y="804660"/>
            <a:ext cx="10972822" cy="60533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039755-77F6-3992-FC83-91A0A3A5D746}"/>
              </a:ext>
            </a:extLst>
          </p:cNvPr>
          <p:cNvSpPr txBox="1"/>
          <p:nvPr/>
        </p:nvSpPr>
        <p:spPr>
          <a:xfrm>
            <a:off x="4293882" y="188535"/>
            <a:ext cx="3808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  <a:latin typeface="Bahnschrift SemiBold" panose="020B0502040204020203" pitchFamily="34" charset="0"/>
              </a:rPr>
              <a:t>Chernoff Distance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A1130-BE74-E23F-AC53-B1A528F1719B}"/>
              </a:ext>
            </a:extLst>
          </p:cNvPr>
          <p:cNvSpPr txBox="1"/>
          <p:nvPr/>
        </p:nvSpPr>
        <p:spPr>
          <a:xfrm>
            <a:off x="886120" y="5491114"/>
            <a:ext cx="2567627" cy="923330"/>
          </a:xfrm>
          <a:prstGeom prst="rect">
            <a:avLst/>
          </a:prstGeom>
          <a:solidFill>
            <a:srgbClr val="FFF4ED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Bahnschrift SemiBold" panose="020B0502040204020203" pitchFamily="34" charset="0"/>
              </a:rPr>
              <a:t>Takeaway: Healthy potato leaves create a bit of confusion !</a:t>
            </a:r>
            <a:endParaRPr lang="en-IN" dirty="0">
              <a:solidFill>
                <a:srgbClr val="FF0000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736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8C32D3-AADA-04F8-BC67-FD85382AB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E78625-2E1D-7517-F2EA-5741596B2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86" y="804660"/>
            <a:ext cx="10972822" cy="60533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31E4C2-8A13-67C7-9CAB-01021CBC15A4}"/>
              </a:ext>
            </a:extLst>
          </p:cNvPr>
          <p:cNvSpPr txBox="1"/>
          <p:nvPr/>
        </p:nvSpPr>
        <p:spPr>
          <a:xfrm>
            <a:off x="4025218" y="160255"/>
            <a:ext cx="43457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Class Confusability Matrix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7594329-9E72-2485-ACBA-5408B083AE0A}"/>
              </a:ext>
            </a:extLst>
          </p:cNvPr>
          <p:cNvSpPr/>
          <p:nvPr/>
        </p:nvSpPr>
        <p:spPr>
          <a:xfrm rot="8718717">
            <a:off x="7728662" y="3681807"/>
            <a:ext cx="1112363" cy="717022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0FC13FE-173A-3DD6-64AC-32E9DFCF51F3}"/>
              </a:ext>
            </a:extLst>
          </p:cNvPr>
          <p:cNvCxnSpPr>
            <a:cxnSpLocks/>
          </p:cNvCxnSpPr>
          <p:nvPr/>
        </p:nvCxnSpPr>
        <p:spPr>
          <a:xfrm flipV="1">
            <a:off x="3186260" y="4336330"/>
            <a:ext cx="4553146" cy="95210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A83F952-2E4A-D48D-EA35-42CFAFD9AFCF}"/>
              </a:ext>
            </a:extLst>
          </p:cNvPr>
          <p:cNvSpPr txBox="1"/>
          <p:nvPr/>
        </p:nvSpPr>
        <p:spPr>
          <a:xfrm>
            <a:off x="1008668" y="4953786"/>
            <a:ext cx="25676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Bahnschrift SemiBold" panose="020B0502040204020203" pitchFamily="34" charset="0"/>
              </a:rPr>
              <a:t>Same spots of confusion as predicted by the inter-class centroid distances</a:t>
            </a:r>
            <a:endParaRPr lang="en-IN" dirty="0">
              <a:solidFill>
                <a:srgbClr val="00B0F0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929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9558E5-A889-FE7D-EE00-4C730FE16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75364F-BB26-DF82-7750-EF19DE352E61}"/>
              </a:ext>
            </a:extLst>
          </p:cNvPr>
          <p:cNvSpPr txBox="1"/>
          <p:nvPr/>
        </p:nvSpPr>
        <p:spPr>
          <a:xfrm>
            <a:off x="1674827" y="2544594"/>
            <a:ext cx="82767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7030A0"/>
                </a:solidFill>
                <a:latin typeface="Bahnschrift SemiBold" panose="020B0502040204020203" pitchFamily="34" charset="0"/>
              </a:rPr>
              <a:t>t-SNE and UMAP visualization</a:t>
            </a:r>
            <a:endParaRPr lang="en-IN" sz="6000" dirty="0">
              <a:solidFill>
                <a:srgbClr val="7030A0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7083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7BB9C4-955A-C1AD-D2B3-177BB372C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272148-25BC-C465-F127-1B8EF4667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973"/>
            <a:ext cx="12192000" cy="630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8573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DC1899-B1AF-5A3F-690E-C3D3FDCE9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8BE9FE-160B-B8CE-FF0E-5B4A2E291B76}"/>
              </a:ext>
            </a:extLst>
          </p:cNvPr>
          <p:cNvSpPr txBox="1"/>
          <p:nvPr/>
        </p:nvSpPr>
        <p:spPr>
          <a:xfrm>
            <a:off x="1174282" y="2916454"/>
            <a:ext cx="96348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>
                    <a:lumMod val="25000"/>
                  </a:schemeClr>
                </a:solidFill>
                <a:latin typeface="Bahnschrift SemiBold" panose="020B0502040204020203" pitchFamily="34" charset="0"/>
              </a:rPr>
              <a:t>Extremely low Chernoff bounds suggest a </a:t>
            </a:r>
            <a:r>
              <a:rPr lang="en-IN" sz="2400" dirty="0">
                <a:solidFill>
                  <a:schemeClr val="accent1">
                    <a:lumMod val="25000"/>
                  </a:schemeClr>
                </a:solidFill>
                <a:highlight>
                  <a:srgbClr val="FFFF00"/>
                </a:highlight>
                <a:latin typeface="Bahnschrift SemiBold" panose="020B0502040204020203" pitchFamily="34" charset="0"/>
              </a:rPr>
              <a:t>highly separable dataset</a:t>
            </a:r>
          </a:p>
          <a:p>
            <a:endParaRPr lang="en-IN" sz="2400" dirty="0">
              <a:solidFill>
                <a:schemeClr val="accent1">
                  <a:lumMod val="25000"/>
                </a:schemeClr>
              </a:solidFill>
              <a:latin typeface="Bahnschrift SemiBold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>
                    <a:lumMod val="25000"/>
                  </a:schemeClr>
                </a:solidFill>
                <a:latin typeface="Bahnschrift SemiBold" panose="020B0502040204020203" pitchFamily="34" charset="0"/>
              </a:rPr>
              <a:t>t-SNE and UMAP </a:t>
            </a:r>
            <a:r>
              <a:rPr lang="en-US" sz="2400" dirty="0" err="1">
                <a:solidFill>
                  <a:schemeClr val="accent1">
                    <a:lumMod val="25000"/>
                  </a:schemeClr>
                </a:solidFill>
                <a:latin typeface="Bahnschrift SemiBold" panose="020B0502040204020203" pitchFamily="34" charset="0"/>
              </a:rPr>
              <a:t>visualisations</a:t>
            </a:r>
            <a:r>
              <a:rPr lang="en-US" sz="2400" dirty="0">
                <a:solidFill>
                  <a:schemeClr val="accent1">
                    <a:lumMod val="25000"/>
                  </a:schemeClr>
                </a:solidFill>
                <a:latin typeface="Bahnschrift SemiBold" panose="020B0502040204020203" pitchFamily="34" charset="0"/>
              </a:rPr>
              <a:t> show that the embeddings are neatly clustered,</a:t>
            </a:r>
            <a:r>
              <a:rPr lang="en-IN" sz="2400" dirty="0">
                <a:solidFill>
                  <a:schemeClr val="accent1">
                    <a:lumMod val="25000"/>
                  </a:schemeClr>
                </a:solidFill>
                <a:latin typeface="Bahnschrift SemiBold" panose="020B0502040204020203" pitchFamily="34" charset="0"/>
              </a:rPr>
              <a:t> with very few points of confusion.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C76970-A2CF-0A45-D5F4-9BE451A45DAE}"/>
              </a:ext>
            </a:extLst>
          </p:cNvPr>
          <p:cNvSpPr txBox="1"/>
          <p:nvPr/>
        </p:nvSpPr>
        <p:spPr>
          <a:xfrm>
            <a:off x="4465447" y="1642545"/>
            <a:ext cx="3261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Overall Conclusion</a:t>
            </a:r>
          </a:p>
        </p:txBody>
      </p:sp>
    </p:spTree>
    <p:extLst>
      <p:ext uri="{BB962C8B-B14F-4D97-AF65-F5344CB8AC3E}">
        <p14:creationId xmlns:p14="http://schemas.microsoft.com/office/powerpoint/2010/main" val="164560549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{948FC2F3-8F57-4827-97E7-566C3A6B258C}TF1ed9553b-00c4-4092-846a-c8f7f2908f3beecd942f_win32-8e33096c3cfc</Template>
  <TotalTime>239</TotalTime>
  <Words>723</Words>
  <Application>Microsoft Office PowerPoint</Application>
  <PresentationFormat>Widescreen</PresentationFormat>
  <Paragraphs>111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Bahnschrift SemiBold</vt:lpstr>
      <vt:lpstr>Calibri</vt:lpstr>
      <vt:lpstr>Cascadia Mono SemiBold</vt:lpstr>
      <vt:lpstr>Consolas</vt:lpstr>
      <vt:lpstr>Courier New</vt:lpstr>
      <vt:lpstr>Gill Sans Nova Light</vt:lpstr>
      <vt:lpstr>Google Sans Text</vt:lpstr>
      <vt:lpstr>Sagona Book</vt:lpstr>
      <vt:lpstr>Custom</vt:lpstr>
      <vt:lpstr>Separability Analysis on Plant Village Dataset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overcoming nervousness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Mainak Bose</dc:creator>
  <cp:lastModifiedBy>Mainak Bose</cp:lastModifiedBy>
  <cp:revision>3</cp:revision>
  <dcterms:created xsi:type="dcterms:W3CDTF">2026-03-06T14:05:04Z</dcterms:created>
  <dcterms:modified xsi:type="dcterms:W3CDTF">2026-03-07T05:36:51Z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